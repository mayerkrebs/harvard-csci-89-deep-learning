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handoutMasterIdLst>
    <p:handoutMasterId r:id="rId18"/>
  </p:handoutMasterIdLst>
  <p:sldIdLst>
    <p:sldId id="256" r:id="rId2"/>
    <p:sldId id="422" r:id="rId3"/>
    <p:sldId id="423" r:id="rId4"/>
    <p:sldId id="424" r:id="rId5"/>
    <p:sldId id="425" r:id="rId6"/>
    <p:sldId id="426" r:id="rId7"/>
    <p:sldId id="427" r:id="rId8"/>
    <p:sldId id="428" r:id="rId9"/>
    <p:sldId id="429" r:id="rId10"/>
    <p:sldId id="430" r:id="rId11"/>
    <p:sldId id="431" r:id="rId12"/>
    <p:sldId id="432" r:id="rId13"/>
    <p:sldId id="433" r:id="rId14"/>
    <p:sldId id="434" r:id="rId15"/>
    <p:sldId id="435" r:id="rId1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CC00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233" autoAdjust="0"/>
    <p:restoredTop sz="94125" autoAdjust="0"/>
  </p:normalViewPr>
  <p:slideViewPr>
    <p:cSldViewPr>
      <p:cViewPr>
        <p:scale>
          <a:sx n="66" d="100"/>
          <a:sy n="66" d="100"/>
        </p:scale>
        <p:origin x="1949" y="41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40" d="100"/>
        <a:sy n="4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3E7E92B-59FA-49FB-B014-1669F564A86F}" type="datetimeFigureOut">
              <a:rPr lang="en-US"/>
              <a:pPr>
                <a:defRPr/>
              </a:pPr>
              <a:t>8/4/2026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5CAD7887-406F-46CC-9589-B5DF14B164F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647768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FD7B8707-E1CD-4CEF-A00B-04778EC3BE00}" type="datetimeFigureOut">
              <a:rPr lang="en-US"/>
              <a:pPr>
                <a:defRPr/>
              </a:pPr>
              <a:t>8/4/2026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E692987E-3A66-4994-9BE4-8BDBBB69D16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605788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86020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A50DCA77-AE49-4A9C-A909-3537221CB17F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6045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692987E-3A66-4994-9BE4-8BDBBB69D16B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37860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692987E-3A66-4994-9BE4-8BDBBB69D16B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2338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692987E-3A66-4994-9BE4-8BDBBB69D16B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92521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692987E-3A66-4994-9BE4-8BDBBB69D16B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774006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692987E-3A66-4994-9BE4-8BDBBB69D16B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028998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692987E-3A66-4994-9BE4-8BDBBB69D16B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378885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692987E-3A66-4994-9BE4-8BDBBB69D16B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19184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692987E-3A66-4994-9BE4-8BDBBB69D16B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871419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692987E-3A66-4994-9BE4-8BDBBB69D16B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770037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692987E-3A66-4994-9BE4-8BDBBB69D16B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721293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692987E-3A66-4994-9BE4-8BDBBB69D16B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54504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692987E-3A66-4994-9BE4-8BDBBB69D16B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693044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692987E-3A66-4994-9BE4-8BDBBB69D16B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203934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692987E-3A66-4994-9BE4-8BDBBB69D16B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52434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10382D7-6004-43C9-AB02-56543EB3FDAB}" type="datetime1">
              <a:rPr lang="en-US"/>
              <a:pPr>
                <a:defRPr/>
              </a:pPr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@Your Name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1D066EC-5749-4585-9837-C7D7BD5CB86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51515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20651"/>
            <a:ext cx="8229600" cy="715962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rgbClr val="0070C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5334000"/>
          </a:xfrm>
        </p:spPr>
        <p:txBody>
          <a:bodyPr/>
          <a:lstStyle>
            <a:lvl1pPr>
              <a:buClr>
                <a:srgbClr val="0070C0"/>
              </a:buClr>
              <a:buFont typeface="Wingdings" pitchFamily="2" charset="2"/>
              <a:buChar char="§"/>
              <a:defRPr sz="1800" baseline="0"/>
            </a:lvl1pPr>
            <a:lvl2pPr>
              <a:buClr>
                <a:srgbClr val="92D050"/>
              </a:buClr>
              <a:buFont typeface="Wingdings" pitchFamily="2" charset="2"/>
              <a:buChar char="§"/>
              <a:defRPr sz="1800" baseline="0"/>
            </a:lvl2pPr>
            <a:lvl3pPr>
              <a:buClr>
                <a:srgbClr val="FF0000"/>
              </a:buClr>
              <a:buFont typeface="Wingdings" pitchFamily="2" charset="2"/>
              <a:buChar char="§"/>
              <a:defRPr sz="1600" baseline="0"/>
            </a:lvl3pPr>
            <a:lvl4pPr>
              <a:defRPr sz="16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3A10935-C4E4-4A31-A905-CBD3B88B377F}" type="datetime1">
              <a:rPr lang="en-US"/>
              <a:pPr>
                <a:defRPr/>
              </a:pPr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@Your Name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600" b="1"/>
            </a:lvl1pPr>
          </a:lstStyle>
          <a:p>
            <a:pPr>
              <a:defRPr/>
            </a:pPr>
            <a:fld id="{F8C3E294-9E12-4E24-B275-9BA1AC14E86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72203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2AA3077-BD5E-4DF2-86F4-B2787C87502F}" type="datetime1">
              <a:rPr lang="en-US"/>
              <a:pPr>
                <a:defRPr/>
              </a:pPr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@Your Name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D6EFB9-832D-41AA-B6AA-BA3FDFDF217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29524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D9D7AE-2072-4CF1-81AF-6875EEBBE225}" type="datetime1">
              <a:rPr lang="en-US"/>
              <a:pPr>
                <a:defRPr/>
              </a:pPr>
              <a:t>8/4/2026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@Your Name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1FBD6B9-3A33-4A94-B724-9A8AE8A254D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92779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AD28BE-7261-4565-BDD9-9D13920F46F3}" type="datetime1">
              <a:rPr lang="en-US"/>
              <a:pPr>
                <a:defRPr/>
              </a:pPr>
              <a:t>8/4/2026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@Your Name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F3FC6E-2B66-4D2D-9218-6A86576333C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06692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0EF4F18-6076-4F4D-8701-7E7E46FB9673}" type="datetime1">
              <a:rPr lang="en-US"/>
              <a:pPr>
                <a:defRPr/>
              </a:pPr>
              <a:t>8/4/2026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@Your Name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C73807-B068-4863-956B-F1B33613174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05516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8F68202-4F72-4F7C-A5F1-E7B21F92F430}" type="datetime1">
              <a:rPr lang="en-US"/>
              <a:pPr>
                <a:defRPr/>
              </a:pPr>
              <a:t>8/4/2026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@Your Name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F5520D-11A7-44C7-A268-AAA329E6ED9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70358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AA5998-59A9-4C76-B55B-B07AD0665B82}" type="datetime1">
              <a:rPr lang="en-US"/>
              <a:pPr>
                <a:defRPr/>
              </a:pPr>
              <a:t>8/4/2026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@Your Name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DEA0E33-B153-4585-A659-757BD76D8C7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21860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DFA7D98-E199-4E72-A4FE-85F4B3A9BF25}" type="datetime1">
              <a:rPr lang="en-US"/>
              <a:pPr>
                <a:defRPr/>
              </a:pPr>
              <a:t>8/4/2026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@Your Name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0AEC9DF-A8CA-492E-9A95-52D982BBB1F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48345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ECD6C3C-A366-4DF9-81B4-5B0188B44BD9}" type="datetime1">
              <a:rPr lang="en-US"/>
              <a:pPr>
                <a:defRPr/>
              </a:pPr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@Your Name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2236EC8-B6B4-4047-8E94-DB4977AA8CD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47532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F8308A0-081A-40E0-AB91-AE760FA81C51}" type="datetime1">
              <a:rPr lang="en-US"/>
              <a:pPr>
                <a:defRPr/>
              </a:pPr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@Your Name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C83A777-F07E-472E-A020-7B4D580524B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39344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457200" y="274638"/>
            <a:ext cx="8229600" cy="63976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990600"/>
            <a:ext cx="4038600" cy="2514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990600"/>
            <a:ext cx="4038600" cy="2514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57200" y="3657600"/>
            <a:ext cx="4038600" cy="2514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8200" y="3657600"/>
            <a:ext cx="4038600" cy="2514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831DDB-45BE-4D5A-8382-8E06A7A6251F}" type="datetime1">
              <a:rPr lang="en-US"/>
              <a:pPr>
                <a:defRPr/>
              </a:pPr>
              <a:t>8/4/2026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@Your Name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A7F69CA-01CC-4DEF-B5D8-B239B6D1E81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71994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639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990600"/>
            <a:ext cx="8229600" cy="518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97832353-B273-4796-B91B-464BBEE56517}" type="datetime1">
              <a:rPr lang="en-US"/>
              <a:pPr>
                <a:defRPr/>
              </a:pPr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120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pPr>
              <a:defRPr/>
            </a:pPr>
            <a:r>
              <a:rPr lang="en-US"/>
              <a:t>@Your Name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F34D79D8-E937-4F7F-B5D1-0FDC90AE5A5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12" r:id="rId1"/>
    <p:sldLayoutId id="2147484123" r:id="rId2"/>
    <p:sldLayoutId id="2147484113" r:id="rId3"/>
    <p:sldLayoutId id="2147484114" r:id="rId4"/>
    <p:sldLayoutId id="2147484115" r:id="rId5"/>
    <p:sldLayoutId id="2147484116" r:id="rId6"/>
    <p:sldLayoutId id="2147484117" r:id="rId7"/>
    <p:sldLayoutId id="2147484118" r:id="rId8"/>
    <p:sldLayoutId id="2147484119" r:id="rId9"/>
    <p:sldLayoutId id="2147484120" r:id="rId10"/>
    <p:sldLayoutId id="2147484121" r:id="rId11"/>
    <p:sldLayoutId id="2147484122" r:id="rId12"/>
  </p:sldLayoutIdLst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 kern="1200">
          <a:solidFill>
            <a:schemeClr val="hlink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hlink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hlink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hlink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hlink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600">
          <a:solidFill>
            <a:schemeClr val="hlink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600">
          <a:solidFill>
            <a:schemeClr val="hlink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600">
          <a:solidFill>
            <a:schemeClr val="hlink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600">
          <a:solidFill>
            <a:schemeClr val="hlink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Font typeface="Wingdings" pitchFamily="2" charset="2"/>
        <a:buChar char="§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FF0000"/>
        </a:buClr>
        <a:buFont typeface="Wingdings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00CC00"/>
        </a:buClr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202EDA8-4D42-4A3F-8044-C86141763805}" type="slidenum">
              <a:rPr lang="en-US" sz="1600" b="1"/>
              <a:pPr>
                <a:defRPr/>
              </a:pPr>
              <a:t>1</a:t>
            </a:fld>
            <a:endParaRPr lang="en-US" sz="1600" b="1" dirty="0"/>
          </a:p>
        </p:txBody>
      </p:sp>
      <p:sp>
        <p:nvSpPr>
          <p:cNvPr id="3075" name="Title 1"/>
          <p:cNvSpPr>
            <a:spLocks noGrp="1"/>
          </p:cNvSpPr>
          <p:nvPr>
            <p:ph type="ctrTitle"/>
          </p:nvPr>
        </p:nvSpPr>
        <p:spPr>
          <a:xfrm>
            <a:off x="457200" y="430000"/>
            <a:ext cx="8229600" cy="1520000"/>
          </a:xfrm>
        </p:spPr>
        <p:txBody>
          <a:bodyPr>
            <a:normAutofit/>
          </a:bodyPr>
          <a:lstStyle/>
          <a:p>
            <a:pPr algn="ctr" eaLnBrk="1" hangingPunct="1"/>
            <a:r>
              <a:rPr lang="en-US" altLang="en-US" sz="2000" dirty="0">
                <a:latin typeface="Garamond" panose="02020404030301010803" pitchFamily="18" charset="0"/>
              </a:rPr>
              <a:t>Final Project</a:t>
            </a:r>
            <a:br>
              <a:rPr lang="en-US" altLang="en-US" sz="2000" dirty="0">
                <a:latin typeface="Garamond" panose="02020404030301010803" pitchFamily="18" charset="0"/>
              </a:rPr>
            </a:br>
            <a:r>
              <a:rPr lang="en-US" altLang="en-US" sz="2400" b="1" dirty="0">
                <a:latin typeface="Garamond" panose="02020404030301010803" pitchFamily="18" charset="0"/>
              </a:rPr>
              <a:t>Wood Genus Classification from Microscopic Images Using CNNs and Transfer Learning</a:t>
            </a:r>
          </a:p>
        </p:txBody>
      </p:sp>
      <p:sp>
        <p:nvSpPr>
          <p:cNvPr id="3076" name="Subtitle 2"/>
          <p:cNvSpPr>
            <a:spLocks noGrp="1"/>
          </p:cNvSpPr>
          <p:nvPr>
            <p:ph type="subTitle" idx="1"/>
          </p:nvPr>
        </p:nvSpPr>
        <p:spPr>
          <a:xfrm>
            <a:off x="1333500" y="2000000"/>
            <a:ext cx="6477000" cy="420000"/>
          </a:xfrm>
        </p:spPr>
        <p:txBody>
          <a:bodyPr/>
          <a:lstStyle/>
          <a:p>
            <a:pPr algn="ctr"/>
            <a:r>
              <a:rPr lang="en-US" sz="2400" dirty="0">
                <a:solidFill>
                  <a:schemeClr val="tx2">
                    <a:lumMod val="75000"/>
                  </a:schemeClr>
                </a:solidFill>
                <a:latin typeface="Garamond" panose="02020404030301010803" pitchFamily="18" charset="0"/>
              </a:rPr>
              <a:t>Martin Mayer</a:t>
            </a:r>
          </a:p>
        </p:txBody>
      </p:sp>
      <p:sp>
        <p:nvSpPr>
          <p:cNvPr id="20" name="Course Info"/>
          <p:cNvSpPr txBox="1"/>
          <p:nvPr/>
        </p:nvSpPr>
        <p:spPr>
          <a:xfrm>
            <a:off x="700000" y="2470000"/>
            <a:ext cx="7744000" cy="74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ctr"/>
            <a:r>
              <a:rPr lang="en-US" sz="1400">
                <a:solidFill>
                  <a:schemeClr val="tx1"/>
                </a:solidFill>
                <a:latin typeface="Garamond" panose="02020404030301010803" pitchFamily="18" charset="0"/>
              </a:rPr>
              <a:t>Instructor: Professor Dmitry Kurochkin, PhD</a:t>
            </a:r>
          </a:p>
          <a:p>
            <a:pPr algn="ctr"/>
            <a:r>
              <a:rPr lang="en-US" sz="1400">
                <a:solidFill>
                  <a:schemeClr val="tx1"/>
                </a:solidFill>
                <a:latin typeface="Garamond" panose="02020404030301010803" pitchFamily="18" charset="0"/>
              </a:rPr>
              <a:t>Teaching Assistants: Andrey Sivachenko, Andrea Hatch, Kurt Rayner, Sathvika Iyengar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6000" y="3300000"/>
            <a:ext cx="992000" cy="1147000"/>
          </a:xfrm>
          <a:prstGeom prst="rect">
            <a:avLst/>
          </a:prstGeom>
        </p:spPr>
      </p:pic>
      <p:sp>
        <p:nvSpPr>
          <p:cNvPr id="21" name="School Info"/>
          <p:cNvSpPr txBox="1"/>
          <p:nvPr/>
        </p:nvSpPr>
        <p:spPr>
          <a:xfrm>
            <a:off x="700000" y="4500000"/>
            <a:ext cx="7744000" cy="44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ctr"/>
            <a:r>
              <a:rPr lang="en-US" sz="1600" b="1" dirty="0">
                <a:solidFill>
                  <a:schemeClr val="bg2">
                    <a:lumMod val="25000"/>
                  </a:schemeClr>
                </a:solidFill>
                <a:latin typeface="Garamond" panose="02020404030301010803" pitchFamily="18" charset="0"/>
              </a:rPr>
              <a:t>CSCI 89 Deep Learning</a:t>
            </a:r>
            <a:r>
              <a:rPr lang="en-US" sz="1600" dirty="0">
                <a:solidFill>
                  <a:schemeClr val="bg2">
                    <a:lumMod val="25000"/>
                  </a:schemeClr>
                </a:solidFill>
                <a:latin typeface="Garamond" panose="02020404030301010803" pitchFamily="18" charset="0"/>
              </a:rPr>
              <a:t>  ·  Harvard University</a:t>
            </a:r>
          </a:p>
        </p:txBody>
      </p:sp>
      <p:sp>
        <p:nvSpPr>
          <p:cNvPr id="22" name="Links"/>
          <p:cNvSpPr txBox="1"/>
          <p:nvPr/>
        </p:nvSpPr>
        <p:spPr>
          <a:xfrm>
            <a:off x="700000" y="4980000"/>
            <a:ext cx="7744000" cy="13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ctr"/>
            <a:endParaRPr lang="en-US" sz="1100" i="1" dirty="0">
              <a:solidFill>
                <a:srgbClr val="898989"/>
              </a:solidFill>
              <a:latin typeface="Garamond" pitchFamily="18" charset="0"/>
            </a:endParaRPr>
          </a:p>
        </p:txBody>
      </p:sp>
      <p:sp>
        <p:nvSpPr>
          <p:cNvPr id="3077" name="Footer Placeholder 1"/>
          <p:cNvSpPr>
            <a:spLocks noGrp="1"/>
          </p:cNvSpPr>
          <p:nvPr>
            <p:ph type="ftr" sz="quarter" idx="11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None/>
            </a:pPr>
            <a:r>
              <a:rPr lang="en-US" altLang="en-US" sz="1200" dirty="0">
                <a:solidFill>
                  <a:srgbClr val="898989"/>
                </a:solidFill>
                <a:latin typeface="Garamond" panose="02020404030301010803" pitchFamily="18" charset="0"/>
              </a:rPr>
              <a:t>@</a:t>
            </a:r>
            <a:r>
              <a:rPr lang="en-US" altLang="en-US" sz="1200">
                <a:solidFill>
                  <a:srgbClr val="898989"/>
                </a:solidFill>
                <a:latin typeface="Garamond" panose="02020404030301010803" pitchFamily="18" charset="0"/>
              </a:rPr>
              <a:t>Martin Mayer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2449"/>
    </mc:Choice>
    <mc:Fallback>
      <p:transition spd="slow" advTm="22449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Garamond" pitchFamily="18" charset="0"/>
              </a:rPr>
              <a:t>Project goal</a:t>
            </a:r>
          </a:p>
        </p:txBody>
      </p:sp>
      <p:sp>
        <p:nvSpPr>
          <p:cNvPr id="101" name="Text 101"/>
          <p:cNvSpPr txBox="1"/>
          <p:nvPr/>
        </p:nvSpPr>
        <p:spPr>
          <a:xfrm>
            <a:off x="457200" y="1130000"/>
            <a:ext cx="4250000" cy="4400000"/>
          </a:xfrm>
          <a:prstGeom prst="rect">
            <a:avLst/>
          </a:prstGeom>
          <a:noFill/>
        </p:spPr>
        <p:txBody>
          <a:bodyPr wrap="square" lIns="0" rIns="0" rtlCol="0" anchor="t">
            <a:normAutofit/>
          </a:bodyPr>
          <a:lstStyle/>
          <a:p>
            <a:pPr>
              <a:spcBef>
                <a:spcPts val="0"/>
              </a:spcBef>
              <a:buNone/>
            </a:pPr>
            <a:r>
              <a:rPr lang="en-US" sz="1800" b="1" dirty="0">
                <a:solidFill>
                  <a:srgbClr val="1F497D"/>
                </a:solidFill>
                <a:latin typeface="Garamond" pitchFamily="18" charset="0"/>
              </a:rPr>
              <a:t>The problem</a:t>
            </a:r>
          </a:p>
          <a:p>
            <a:pPr marL="228600" indent="-228600">
              <a:spcBef>
                <a:spcPts val="500"/>
              </a:spcBef>
              <a:buClr>
                <a:srgbClr val="A51C30"/>
              </a:buClr>
              <a:buFont typeface="Arial"/>
              <a:buChar char="–"/>
            </a:pPr>
            <a:r>
              <a:rPr lang="en-US" sz="1600" dirty="0">
                <a:solidFill>
                  <a:srgbClr val="262626"/>
                </a:solidFill>
                <a:latin typeface="Garamond" pitchFamily="18" charset="0"/>
              </a:rPr>
              <a:t>Build a CNN-based image classifier to identify the wood genus from microscopic wood images.</a:t>
            </a:r>
          </a:p>
          <a:p>
            <a:pPr marL="685800" lvl="1" indent="-228600">
              <a:spcBef>
                <a:spcPts val="500"/>
              </a:spcBef>
              <a:buClr>
                <a:srgbClr val="A51C30"/>
              </a:buClr>
              <a:buFont typeface="Arial"/>
              <a:buChar char="–"/>
            </a:pPr>
            <a:r>
              <a:rPr lang="en-US" sz="1600" i="1" dirty="0">
                <a:solidFill>
                  <a:srgbClr val="262626"/>
                </a:solidFill>
                <a:latin typeface="Garamond" pitchFamily="18" charset="0"/>
              </a:rPr>
              <a:t>Prepare a leakage-aware image dataset</a:t>
            </a:r>
          </a:p>
          <a:p>
            <a:pPr marL="685800" lvl="1" indent="-228600">
              <a:spcBef>
                <a:spcPts val="500"/>
              </a:spcBef>
              <a:buClr>
                <a:srgbClr val="A51C30"/>
              </a:buClr>
              <a:buFont typeface="Arial"/>
              <a:buChar char="–"/>
            </a:pPr>
            <a:r>
              <a:rPr lang="en-US" sz="1600" i="1" dirty="0">
                <a:solidFill>
                  <a:srgbClr val="262626"/>
                </a:solidFill>
                <a:latin typeface="Garamond" pitchFamily="18" charset="0"/>
              </a:rPr>
              <a:t>Train a </a:t>
            </a:r>
            <a:r>
              <a:rPr lang="en-US" sz="1600" i="1">
                <a:solidFill>
                  <a:srgbClr val="262626"/>
                </a:solidFill>
                <a:latin typeface="Garamond" pitchFamily="18" charset="0"/>
              </a:rPr>
              <a:t>Keras</a:t>
            </a:r>
            <a:r>
              <a:rPr lang="en-US" sz="1600" i="1" dirty="0">
                <a:solidFill>
                  <a:srgbClr val="262626"/>
                </a:solidFill>
                <a:latin typeface="Garamond" pitchFamily="18" charset="0"/>
              </a:rPr>
              <a:t> transfer-learning model</a:t>
            </a:r>
          </a:p>
          <a:p>
            <a:pPr marL="685800" lvl="1" indent="-228600">
              <a:spcBef>
                <a:spcPts val="500"/>
              </a:spcBef>
              <a:buClr>
                <a:srgbClr val="A51C30"/>
              </a:buClr>
              <a:buFont typeface="Arial"/>
              <a:buChar char="–"/>
            </a:pPr>
            <a:r>
              <a:rPr lang="en-US" sz="1600" i="1" dirty="0">
                <a:solidFill>
                  <a:srgbClr val="262626"/>
                </a:solidFill>
                <a:latin typeface="Garamond" pitchFamily="18" charset="0"/>
              </a:rPr>
              <a:t>Evaluate performance at image and specimen level</a:t>
            </a:r>
          </a:p>
          <a:p>
            <a:pPr marL="685800" lvl="1" indent="-228600">
              <a:spcBef>
                <a:spcPts val="500"/>
              </a:spcBef>
              <a:buClr>
                <a:srgbClr val="A51C30"/>
              </a:buClr>
              <a:buFont typeface="Arial"/>
              <a:buChar char="–"/>
            </a:pPr>
            <a:r>
              <a:rPr lang="en-US" sz="1600" i="1" dirty="0">
                <a:solidFill>
                  <a:srgbClr val="262626"/>
                </a:solidFill>
                <a:latin typeface="Garamond" pitchFamily="18" charset="0"/>
              </a:rPr>
              <a:t>Explore whether learned filters relate to wood-anatomy characteristics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buNone/>
            </a:pPr>
            <a:r>
              <a:rPr lang="en-US" sz="1200">
                <a:solidFill>
                  <a:srgbClr val="898989"/>
                </a:solidFill>
                <a:latin typeface="Garamond" pitchFamily="18" charset="0"/>
              </a:rPr>
              <a:t>@Martin Mayer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73807-B068-4863-956B-F1B336131749}" type="slidenum">
              <a:rPr lang="en-US"/>
              <a:t>2</a:t>
            </a:fld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1F032FE-0C45-C02F-84FE-C3178D456643}"/>
              </a:ext>
            </a:extLst>
          </p:cNvPr>
          <p:cNvSpPr txBox="1"/>
          <p:nvPr/>
        </p:nvSpPr>
        <p:spPr>
          <a:xfrm>
            <a:off x="5181600" y="1040323"/>
            <a:ext cx="91428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US" sz="1200" i="1" dirty="0" err="1">
                <a:latin typeface="Garamond" panose="02020404030301010803" pitchFamily="18" charset="0"/>
              </a:rPr>
              <a:t>Betula</a:t>
            </a:r>
            <a:r>
              <a:rPr lang="es-US" sz="1200" i="1" err="1">
                <a:latin typeface="Garamond" panose="02020404030301010803" pitchFamily="18" charset="0"/>
              </a:rPr>
              <a:t> (Birch)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4A8633C-934B-4346-5ACB-60BCA8A88CB1}"/>
              </a:ext>
            </a:extLst>
          </p:cNvPr>
          <p:cNvSpPr txBox="1"/>
          <p:nvPr/>
        </p:nvSpPr>
        <p:spPr>
          <a:xfrm>
            <a:off x="5187538" y="2819400"/>
            <a:ext cx="97039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US" sz="1200" i="1" dirty="0">
                <a:latin typeface="Garamond" panose="02020404030301010803" pitchFamily="18" charset="0"/>
              </a:rPr>
              <a:t>Quercus (Oak)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20C8F6EE-6253-CD24-8BD0-016A550A87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4750" y="3047700"/>
            <a:ext cx="1466850" cy="1466850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D313B4F8-A046-43EC-D5C3-50204AC16C51}"/>
              </a:ext>
            </a:extLst>
          </p:cNvPr>
          <p:cNvSpPr txBox="1"/>
          <p:nvPr/>
        </p:nvSpPr>
        <p:spPr>
          <a:xfrm>
            <a:off x="6657073" y="2808514"/>
            <a:ext cx="89319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US" sz="1200" i="1" dirty="0">
                <a:latin typeface="Garamond" panose="02020404030301010803" pitchFamily="18" charset="0"/>
              </a:rPr>
              <a:t>Ulmus (Elm)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88FC8D17-3418-B8CD-7BA9-33B052B812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2667" y="1295400"/>
            <a:ext cx="1460800" cy="1460800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92DBE9F2-076E-11A0-DD47-9FABFA342EA0}"/>
              </a:ext>
            </a:extLst>
          </p:cNvPr>
          <p:cNvSpPr txBox="1"/>
          <p:nvPr/>
        </p:nvSpPr>
        <p:spPr>
          <a:xfrm>
            <a:off x="6684784" y="1021612"/>
            <a:ext cx="88678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US" sz="1200" i="1" dirty="0">
                <a:latin typeface="Garamond" panose="02020404030301010803" pitchFamily="18" charset="0"/>
              </a:rPr>
              <a:t>Acer (Maple)</a:t>
            </a: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46842970-2E92-85C6-97CE-DCA33972244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6650" y="1312697"/>
            <a:ext cx="1443503" cy="1443503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D24878DF-B393-E367-5B7E-F9D01567784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06650" y="3047700"/>
            <a:ext cx="1466850" cy="14668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2346"/>
    </mc:Choice>
    <mc:Fallback>
      <p:transition spd="slow" advTm="22346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>
                <a:latin typeface="Garamond" pitchFamily="18" charset="0"/>
              </a:rPr>
              <a:t>Why genus classification?</a:t>
            </a:r>
          </a:p>
        </p:txBody>
      </p:sp>
      <p:sp>
        <p:nvSpPr>
          <p:cNvPr id="103" name="Shape 103"/>
          <p:cNvSpPr/>
          <p:nvPr/>
        </p:nvSpPr>
        <p:spPr>
          <a:xfrm>
            <a:off x="457200" y="1220000"/>
            <a:ext cx="2400000" cy="760000"/>
          </a:xfrm>
          <a:prstGeom prst="rect">
            <a:avLst/>
          </a:prstGeom>
          <a:solidFill>
            <a:srgbClr val="DCE6F1"/>
          </a:solidFill>
          <a:ln w="12700">
            <a:solidFill>
              <a:srgbClr val="4F81BD"/>
            </a:solidFill>
          </a:ln>
        </p:spPr>
        <p:txBody>
          <a:bodyPr wrap="square" rtlCol="0" anchor="ctr">
            <a:normAutofit/>
          </a:bodyPr>
          <a:lstStyle/>
          <a:p>
            <a:pPr algn="ctr">
              <a:buNone/>
            </a:pPr>
            <a:r>
              <a:rPr lang="en-US" sz="2000" b="1">
                <a:solidFill>
                  <a:srgbClr val="1F497D"/>
                </a:solidFill>
                <a:latin typeface="Garamond" pitchFamily="18" charset="0"/>
              </a:rPr>
              <a:t>Family</a:t>
            </a:r>
          </a:p>
        </p:txBody>
      </p:sp>
      <p:sp>
        <p:nvSpPr>
          <p:cNvPr id="104" name="Text 104"/>
          <p:cNvSpPr txBox="1"/>
          <p:nvPr/>
        </p:nvSpPr>
        <p:spPr>
          <a:xfrm>
            <a:off x="457200" y="2030000"/>
            <a:ext cx="2400000" cy="520000"/>
          </a:xfrm>
          <a:prstGeom prst="rect">
            <a:avLst/>
          </a:prstGeom>
          <a:noFill/>
        </p:spPr>
        <p:txBody>
          <a:bodyPr wrap="square" lIns="0" rIns="0" rtlCol="0" anchor="t">
            <a:norm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en-US" sz="1250" i="1">
                <a:solidFill>
                  <a:srgbClr val="595959"/>
                </a:solidFill>
                <a:latin typeface="Garamond" pitchFamily="18" charset="0"/>
              </a:rPr>
              <a:t>Broad group of related genera</a:t>
            </a:r>
          </a:p>
        </p:txBody>
      </p:sp>
      <p:sp>
        <p:nvSpPr>
          <p:cNvPr id="105" name="Shape 105"/>
          <p:cNvSpPr/>
          <p:nvPr/>
        </p:nvSpPr>
        <p:spPr>
          <a:xfrm>
            <a:off x="3372000" y="1220000"/>
            <a:ext cx="2400000" cy="760000"/>
          </a:xfrm>
          <a:prstGeom prst="rect">
            <a:avLst/>
          </a:prstGeom>
          <a:solidFill>
            <a:srgbClr val="A51C30"/>
          </a:solidFill>
          <a:ln w="19050">
            <a:solidFill>
              <a:srgbClr val="A51C30"/>
            </a:solidFill>
          </a:ln>
          <a:effectLst>
            <a:outerShdw blurRad="40000" dist="20000" dir="5400000" rotWithShape="0">
              <a:srgbClr val="000000">
                <a:alpha val="18000"/>
              </a:srgbClr>
            </a:outerShdw>
          </a:effectLst>
        </p:spPr>
        <p:txBody>
          <a:bodyPr wrap="square" rtlCol="0" anchor="ctr">
            <a:normAutofit/>
          </a:bodyPr>
          <a:lstStyle/>
          <a:p>
            <a:pPr algn="ctr">
              <a:buNone/>
            </a:pPr>
            <a:r>
              <a:rPr lang="en-US" sz="2000" b="1">
                <a:solidFill>
                  <a:srgbClr val="FFFFFF"/>
                </a:solidFill>
                <a:latin typeface="Garamond" pitchFamily="18" charset="0"/>
              </a:rPr>
              <a:t>Genus</a:t>
            </a:r>
          </a:p>
        </p:txBody>
      </p:sp>
      <p:sp>
        <p:nvSpPr>
          <p:cNvPr id="106" name="Text 106"/>
          <p:cNvSpPr txBox="1"/>
          <p:nvPr/>
        </p:nvSpPr>
        <p:spPr>
          <a:xfrm>
            <a:off x="3372000" y="2030000"/>
            <a:ext cx="2400000" cy="520000"/>
          </a:xfrm>
          <a:prstGeom prst="rect">
            <a:avLst/>
          </a:prstGeom>
          <a:noFill/>
        </p:spPr>
        <p:txBody>
          <a:bodyPr wrap="square" lIns="0" rIns="0" rtlCol="0" anchor="t">
            <a:norm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en-US" sz="1250" i="1">
                <a:solidFill>
                  <a:srgbClr val="595959"/>
                </a:solidFill>
                <a:latin typeface="Garamond" pitchFamily="18" charset="0"/>
              </a:rPr>
              <a:t>Practical middle level (this project)</a:t>
            </a:r>
          </a:p>
        </p:txBody>
      </p:sp>
      <p:sp>
        <p:nvSpPr>
          <p:cNvPr id="107" name="Shape 107"/>
          <p:cNvSpPr/>
          <p:nvPr/>
        </p:nvSpPr>
        <p:spPr>
          <a:xfrm>
            <a:off x="6286800" y="1220000"/>
            <a:ext cx="2400000" cy="760000"/>
          </a:xfrm>
          <a:prstGeom prst="rect">
            <a:avLst/>
          </a:prstGeom>
          <a:solidFill>
            <a:srgbClr val="DCE6F1"/>
          </a:solidFill>
          <a:ln w="12700">
            <a:solidFill>
              <a:srgbClr val="4F81BD"/>
            </a:solidFill>
          </a:ln>
        </p:spPr>
        <p:txBody>
          <a:bodyPr wrap="square" rtlCol="0" anchor="ctr">
            <a:normAutofit/>
          </a:bodyPr>
          <a:lstStyle/>
          <a:p>
            <a:pPr algn="ctr">
              <a:buNone/>
            </a:pPr>
            <a:r>
              <a:rPr lang="en-US" sz="2000" b="1">
                <a:solidFill>
                  <a:srgbClr val="1F497D"/>
                </a:solidFill>
                <a:latin typeface="Garamond" pitchFamily="18" charset="0"/>
              </a:rPr>
              <a:t>Species</a:t>
            </a:r>
          </a:p>
        </p:txBody>
      </p:sp>
      <p:sp>
        <p:nvSpPr>
          <p:cNvPr id="108" name="Text 108"/>
          <p:cNvSpPr txBox="1"/>
          <p:nvPr/>
        </p:nvSpPr>
        <p:spPr>
          <a:xfrm>
            <a:off x="6286800" y="2030000"/>
            <a:ext cx="2400000" cy="520000"/>
          </a:xfrm>
          <a:prstGeom prst="rect">
            <a:avLst/>
          </a:prstGeom>
          <a:noFill/>
        </p:spPr>
        <p:txBody>
          <a:bodyPr wrap="square" lIns="0" rIns="0" rtlCol="0" anchor="t">
            <a:norm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en-US" sz="1250" i="1">
                <a:solidFill>
                  <a:srgbClr val="595959"/>
                </a:solidFill>
                <a:latin typeface="Garamond" pitchFamily="18" charset="0"/>
              </a:rPr>
              <a:t>Finest, most specific rank</a:t>
            </a:r>
          </a:p>
        </p:txBody>
      </p:sp>
      <p:sp>
        <p:nvSpPr>
          <p:cNvPr id="109" name="Text 109"/>
          <p:cNvSpPr txBox="1"/>
          <p:nvPr/>
        </p:nvSpPr>
        <p:spPr>
          <a:xfrm>
            <a:off x="457200" y="2760000"/>
            <a:ext cx="8229600" cy="300000"/>
          </a:xfrm>
          <a:prstGeom prst="rect">
            <a:avLst/>
          </a:prstGeom>
          <a:noFill/>
        </p:spPr>
        <p:txBody>
          <a:bodyPr wrap="square" lIns="0" rIns="0" rtlCol="0" anchor="t">
            <a:norm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en-US" sz="1300" b="1">
                <a:solidFill>
                  <a:srgbClr val="808080"/>
                </a:solidFill>
                <a:latin typeface="Garamond" pitchFamily="18" charset="0"/>
              </a:rPr>
              <a:t>Broader</a:t>
            </a:r>
          </a:p>
        </p:txBody>
      </p:sp>
      <p:sp>
        <p:nvSpPr>
          <p:cNvPr id="110" name="Shape 110"/>
          <p:cNvSpPr/>
          <p:nvPr/>
        </p:nvSpPr>
        <p:spPr>
          <a:xfrm>
            <a:off x="1450000" y="2820000"/>
            <a:ext cx="5300000" cy="110000"/>
          </a:xfrm>
          <a:prstGeom prst="rightArrow">
            <a:avLst/>
          </a:prstGeom>
          <a:solidFill>
            <a:srgbClr val="B7B7B7"/>
          </a:solidFill>
          <a:ln>
            <a:noFill/>
          </a:ln>
        </p:spPr>
        <p:txBody>
          <a:bodyPr wrap="square" rtlCol="0" anchor="ctr">
            <a:normAutofit fontScale="25000" lnSpcReduction="20000"/>
          </a:bodyPr>
          <a:lstStyle/>
          <a:p>
            <a:pPr>
              <a:buNone/>
            </a:pPr>
            <a:endParaRPr lang="en-US"/>
          </a:p>
        </p:txBody>
      </p:sp>
      <p:sp>
        <p:nvSpPr>
          <p:cNvPr id="111" name="Text 111"/>
          <p:cNvSpPr txBox="1"/>
          <p:nvPr/>
        </p:nvSpPr>
        <p:spPr>
          <a:xfrm>
            <a:off x="457200" y="2760000"/>
            <a:ext cx="8229600" cy="300000"/>
          </a:xfrm>
          <a:prstGeom prst="rect">
            <a:avLst/>
          </a:prstGeom>
          <a:noFill/>
        </p:spPr>
        <p:txBody>
          <a:bodyPr wrap="square" lIns="0" rIns="0" rtlCol="0" anchor="t">
            <a:normAutofit/>
          </a:bodyPr>
          <a:lstStyle/>
          <a:p>
            <a:pPr algn="r">
              <a:spcBef>
                <a:spcPts val="0"/>
              </a:spcBef>
              <a:buNone/>
            </a:pPr>
            <a:r>
              <a:rPr lang="en-US" sz="1300" b="1">
                <a:solidFill>
                  <a:srgbClr val="808080"/>
                </a:solidFill>
                <a:latin typeface="Garamond" pitchFamily="18" charset="0"/>
              </a:rPr>
              <a:t>Finer</a:t>
            </a:r>
          </a:p>
        </p:txBody>
      </p:sp>
      <p:sp>
        <p:nvSpPr>
          <p:cNvPr id="112" name="Text 112"/>
          <p:cNvSpPr txBox="1"/>
          <p:nvPr/>
        </p:nvSpPr>
        <p:spPr>
          <a:xfrm>
            <a:off x="457200" y="3260000"/>
            <a:ext cx="8229600" cy="2500000"/>
          </a:xfrm>
          <a:prstGeom prst="rect">
            <a:avLst/>
          </a:prstGeom>
          <a:noFill/>
        </p:spPr>
        <p:txBody>
          <a:bodyPr wrap="square" lIns="0" rIns="0" rtlCol="0" anchor="t">
            <a:normAutofit/>
          </a:bodyPr>
          <a:lstStyle/>
          <a:p>
            <a:pPr marL="228600" indent="-228600">
              <a:spcBef>
                <a:spcPts val="500"/>
              </a:spcBef>
              <a:buClr>
                <a:srgbClr val="A51C30"/>
              </a:buClr>
              <a:buFont typeface="Arial"/>
              <a:buChar char="–"/>
            </a:pPr>
            <a:r>
              <a:rPr lang="en-US" sz="1600">
                <a:solidFill>
                  <a:srgbClr val="262626"/>
                </a:solidFill>
                <a:latin typeface="Garamond" pitchFamily="18" charset="0"/>
              </a:rPr>
              <a:t>Family groups many related genera; species is the finest, most specific rank.</a:t>
            </a:r>
          </a:p>
          <a:p>
            <a:pPr marL="228600" indent="-228600">
              <a:spcBef>
                <a:spcPts val="500"/>
              </a:spcBef>
              <a:buClr>
                <a:srgbClr val="A51C30"/>
              </a:buClr>
              <a:buFont typeface="Arial"/>
              <a:buChar char="–"/>
            </a:pPr>
            <a:r>
              <a:rPr lang="en-US" sz="1600">
                <a:solidFill>
                  <a:srgbClr val="262626"/>
                </a:solidFill>
                <a:latin typeface="Garamond" pitchFamily="18" charset="0"/>
              </a:rPr>
              <a:t>Genus sits in between — a practical middle level of granularity.</a:t>
            </a:r>
          </a:p>
          <a:p>
            <a:pPr marL="228600" indent="-228600">
              <a:spcBef>
                <a:spcPts val="500"/>
              </a:spcBef>
              <a:buClr>
                <a:srgbClr val="A51C30"/>
              </a:buClr>
              <a:buFont typeface="Arial"/>
              <a:buChar char="–"/>
            </a:pPr>
            <a:r>
              <a:rPr lang="en-US" sz="1600">
                <a:solidFill>
                  <a:srgbClr val="262626"/>
                </a:solidFill>
                <a:latin typeface="Garamond" pitchFamily="18" charset="0"/>
              </a:rPr>
              <a:t>More specific than family: it captures meaningful anatomical distinctions.</a:t>
            </a:r>
          </a:p>
          <a:p>
            <a:pPr marL="228600" indent="-228600">
              <a:spcBef>
                <a:spcPts val="500"/>
              </a:spcBef>
              <a:buClr>
                <a:srgbClr val="A51C30"/>
              </a:buClr>
              <a:buFont typeface="Arial"/>
              <a:buChar char="–"/>
            </a:pPr>
            <a:r>
              <a:rPr lang="en-US" sz="1600">
                <a:solidFill>
                  <a:srgbClr val="262626"/>
                </a:solidFill>
                <a:latin typeface="Garamond" pitchFamily="18" charset="0"/>
              </a:rPr>
              <a:t>More feasible than species: enough labeled specimens per class to train and evaluate reliably.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buNone/>
            </a:pPr>
            <a:r>
              <a:rPr lang="en-US" sz="1200">
                <a:solidFill>
                  <a:srgbClr val="898989"/>
                </a:solidFill>
                <a:latin typeface="Garamond" pitchFamily="18" charset="0"/>
              </a:rPr>
              <a:t>@Martin Mayer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73807-B068-4863-956B-F1B336131749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9791"/>
    </mc:Choice>
    <mc:Fallback>
      <p:transition spd="slow" advTm="5979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>
                <a:latin typeface="Garamond" pitchFamily="18" charset="0"/>
              </a:rPr>
              <a:t>Dataset</a:t>
            </a:r>
          </a:p>
        </p:txBody>
      </p:sp>
      <p:sp>
        <p:nvSpPr>
          <p:cNvPr id="113" name="Text 113"/>
          <p:cNvSpPr txBox="1"/>
          <p:nvPr/>
        </p:nvSpPr>
        <p:spPr>
          <a:xfrm>
            <a:off x="457200" y="1120000"/>
            <a:ext cx="8229600" cy="360000"/>
          </a:xfrm>
          <a:prstGeom prst="rect">
            <a:avLst/>
          </a:prstGeom>
          <a:noFill/>
        </p:spPr>
        <p:txBody>
          <a:bodyPr wrap="square" lIns="0" rIns="0" rtlCol="0" anchor="t">
            <a:normAutofit/>
          </a:bodyPr>
          <a:lstStyle/>
          <a:p>
            <a:pPr>
              <a:spcBef>
                <a:spcPts val="0"/>
              </a:spcBef>
              <a:buNone/>
            </a:pPr>
            <a:r>
              <a:rPr lang="en-US" sz="1600" i="1" dirty="0">
                <a:solidFill>
                  <a:srgbClr val="595959"/>
                </a:solidFill>
                <a:latin typeface="Garamond" pitchFamily="18" charset="0"/>
              </a:rPr>
              <a:t>XDD_015 / WIG_v1.2.1_600 microscopic wood image dataset</a:t>
            </a:r>
          </a:p>
        </p:txBody>
      </p:sp>
      <p:graphicFrame>
        <p:nvGraphicFramePr>
          <p:cNvPr id="114" name="Table 1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9017773"/>
              </p:ext>
            </p:extLst>
          </p:nvPr>
        </p:nvGraphicFramePr>
        <p:xfrm>
          <a:off x="457200" y="1560000"/>
          <a:ext cx="8229600" cy="2324000"/>
        </p:xfrm>
        <a:graphic>
          <a:graphicData uri="http://schemas.openxmlformats.org/drawingml/2006/table">
            <a:tbl>
              <a:tblPr firstRow="1" bandRow="1"/>
              <a:tblGrid>
                <a:gridCol w="322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4000">
                <a:tc>
                  <a:txBody>
                    <a:bodyPr/>
                    <a:lstStyle/>
                    <a:p>
                      <a:pPr algn="l"/>
                      <a:r>
                        <a:rPr lang="en-US" sz="1500" b="1">
                          <a:solidFill>
                            <a:srgbClr val="FFFFFF"/>
                          </a:solidFill>
                          <a:latin typeface="Garamond" pitchFamily="18" charset="0"/>
                        </a:rPr>
                        <a:t>Metric</a:t>
                      </a:r>
                    </a:p>
                  </a:txBody>
                  <a:tcPr anchor="ctr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>
                          <a:solidFill>
                            <a:srgbClr val="FFFFFF"/>
                          </a:solidFill>
                          <a:latin typeface="Garamond" pitchFamily="18" charset="0"/>
                        </a:rPr>
                        <a:t>Raw archive</a:t>
                      </a:r>
                    </a:p>
                  </a:txBody>
                  <a:tcPr anchor="ctr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>
                          <a:solidFill>
                            <a:srgbClr val="FFFFFF"/>
                          </a:solidFill>
                          <a:latin typeface="Garamond" pitchFamily="18" charset="0"/>
                        </a:rPr>
                        <a:t>Retained dataset</a:t>
                      </a:r>
                    </a:p>
                  </a:txBody>
                  <a:tcPr anchor="ctr">
                    <a:solidFill>
                      <a:srgbClr val="1F49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0000">
                <a:tc>
                  <a:txBody>
                    <a:bodyPr/>
                    <a:lstStyle/>
                    <a:p>
                      <a:pPr algn="l"/>
                      <a:r>
                        <a:rPr lang="en-US" sz="1500" b="1" dirty="0">
                          <a:solidFill>
                            <a:srgbClr val="262626"/>
                          </a:solidFill>
                          <a:latin typeface="Garamond" pitchFamily="18" charset="0"/>
                        </a:rPr>
                        <a:t>Genera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>
                          <a:solidFill>
                            <a:srgbClr val="262626"/>
                          </a:solidFill>
                          <a:latin typeface="Garamond" pitchFamily="18" charset="0"/>
                        </a:rPr>
                        <a:t>33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>
                          <a:solidFill>
                            <a:srgbClr val="262626"/>
                          </a:solidFill>
                          <a:latin typeface="Garamond" pitchFamily="18" charset="0"/>
                        </a:rPr>
                        <a:t>17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0000">
                <a:tc>
                  <a:txBody>
                    <a:bodyPr/>
                    <a:lstStyle/>
                    <a:p>
                      <a:pPr algn="l"/>
                      <a:r>
                        <a:rPr lang="en-US" sz="1500" b="1">
                          <a:solidFill>
                            <a:srgbClr val="262626"/>
                          </a:solidFill>
                          <a:latin typeface="Garamond" pitchFamily="18" charset="0"/>
                        </a:rPr>
                        <a:t>Specimens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>
                          <a:solidFill>
                            <a:srgbClr val="262626"/>
                          </a:solidFill>
                          <a:latin typeface="Garamond" pitchFamily="18" charset="0"/>
                        </a:rPr>
                        <a:t>540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>
                          <a:solidFill>
                            <a:srgbClr val="262626"/>
                          </a:solidFill>
                          <a:latin typeface="Garamond" pitchFamily="18" charset="0"/>
                        </a:rPr>
                        <a:t>466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0000">
                <a:tc>
                  <a:txBody>
                    <a:bodyPr/>
                    <a:lstStyle/>
                    <a:p>
                      <a:pPr algn="l"/>
                      <a:r>
                        <a:rPr lang="en-US" sz="1500" b="1">
                          <a:solidFill>
                            <a:srgbClr val="262626"/>
                          </a:solidFill>
                          <a:latin typeface="Garamond" pitchFamily="18" charset="0"/>
                        </a:rPr>
                        <a:t>Images</a:t>
                      </a:r>
                    </a:p>
                  </a:txBody>
                  <a:tcPr anchor="ctr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 dirty="0">
                          <a:solidFill>
                            <a:srgbClr val="262626"/>
                          </a:solidFill>
                          <a:latin typeface="Garamond" pitchFamily="18" charset="0"/>
                        </a:rPr>
                        <a:t>7,051</a:t>
                      </a:r>
                    </a:p>
                  </a:txBody>
                  <a:tcPr anchor="ctr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 dirty="0">
                          <a:solidFill>
                            <a:srgbClr val="262626"/>
                          </a:solidFill>
                          <a:latin typeface="Garamond" pitchFamily="18" charset="0"/>
                        </a:rPr>
                        <a:t>5,992</a:t>
                      </a:r>
                    </a:p>
                  </a:txBody>
                  <a:tcPr anchor="ctr"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5" name="Text 115"/>
          <p:cNvSpPr txBox="1"/>
          <p:nvPr/>
        </p:nvSpPr>
        <p:spPr>
          <a:xfrm>
            <a:off x="457200" y="4267200"/>
            <a:ext cx="8229600" cy="700000"/>
          </a:xfrm>
          <a:prstGeom prst="rect">
            <a:avLst/>
          </a:prstGeom>
          <a:noFill/>
        </p:spPr>
        <p:txBody>
          <a:bodyPr wrap="square" lIns="0" rIns="0" rtlCol="0" anchor="t">
            <a:normAutofit/>
          </a:bodyPr>
          <a:lstStyle/>
          <a:p>
            <a:pPr marL="228600" indent="-228600">
              <a:spcBef>
                <a:spcPts val="0"/>
              </a:spcBef>
              <a:buClr>
                <a:srgbClr val="A51C30"/>
              </a:buClr>
              <a:buFont typeface="Arial"/>
              <a:buChar char="–"/>
            </a:pPr>
            <a:r>
              <a:rPr lang="en-US" sz="1600" dirty="0">
                <a:solidFill>
                  <a:srgbClr val="262626"/>
                </a:solidFill>
                <a:latin typeface="Garamond" pitchFamily="18" charset="0"/>
              </a:rPr>
              <a:t>Only genera with at least 12 independent specimens were retained, enabling a leakage-aware specimen-level split.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buNone/>
            </a:pPr>
            <a:r>
              <a:rPr lang="en-US" sz="1200">
                <a:solidFill>
                  <a:srgbClr val="898989"/>
                </a:solidFill>
                <a:latin typeface="Garamond" pitchFamily="18" charset="0"/>
              </a:rPr>
              <a:t>@Martin Mayer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73807-B068-4863-956B-F1B336131749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5070"/>
    </mc:Choice>
    <mc:Fallback>
      <p:transition spd="slow" advTm="3507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>
                <a:latin typeface="Garamond" pitchFamily="18" charset="0"/>
              </a:rPr>
              <a:t>What the images look like</a:t>
            </a:r>
          </a:p>
        </p:txBody>
      </p:sp>
      <p:sp>
        <p:nvSpPr>
          <p:cNvPr id="116" name="Text 116"/>
          <p:cNvSpPr txBox="1"/>
          <p:nvPr/>
        </p:nvSpPr>
        <p:spPr>
          <a:xfrm>
            <a:off x="457200" y="1130000"/>
            <a:ext cx="4250000" cy="4400000"/>
          </a:xfrm>
          <a:prstGeom prst="rect">
            <a:avLst/>
          </a:prstGeom>
          <a:noFill/>
        </p:spPr>
        <p:txBody>
          <a:bodyPr wrap="square" lIns="0" rIns="0" rtlCol="0" anchor="t">
            <a:normAutofit/>
          </a:bodyPr>
          <a:lstStyle/>
          <a:p>
            <a:pPr marL="228600" indent="-228600">
              <a:spcBef>
                <a:spcPts val="500"/>
              </a:spcBef>
              <a:buClr>
                <a:srgbClr val="A51C30"/>
              </a:buClr>
              <a:buFont typeface="Arial"/>
              <a:buChar char="–"/>
            </a:pPr>
            <a:r>
              <a:rPr lang="en-US" sz="1700" dirty="0">
                <a:solidFill>
                  <a:srgbClr val="262626"/>
                </a:solidFill>
                <a:latin typeface="Garamond" pitchFamily="18" charset="0"/>
              </a:rPr>
              <a:t>Each specimen contains a stack of microscopic transverse-section images.</a:t>
            </a:r>
          </a:p>
          <a:p>
            <a:pPr marL="228600" indent="-228600">
              <a:spcBef>
                <a:spcPts val="500"/>
              </a:spcBef>
              <a:buClr>
                <a:srgbClr val="A51C30"/>
              </a:buClr>
              <a:buFont typeface="Arial"/>
              <a:buChar char="–"/>
            </a:pPr>
            <a:r>
              <a:rPr lang="en-US" sz="1700" dirty="0">
                <a:solidFill>
                  <a:srgbClr val="262626"/>
                </a:solidFill>
                <a:latin typeface="Garamond" pitchFamily="18" charset="0"/>
              </a:rPr>
              <a:t>Each image is 600 × 600 pixels and grayscale.</a:t>
            </a:r>
          </a:p>
          <a:p>
            <a:pPr marL="228600" indent="-228600">
              <a:spcBef>
                <a:spcPts val="500"/>
              </a:spcBef>
              <a:buClr>
                <a:srgbClr val="A51C30"/>
              </a:buClr>
              <a:buFont typeface="Arial"/>
              <a:buChar char="–"/>
            </a:pPr>
            <a:r>
              <a:rPr lang="en-US" sz="1700" dirty="0">
                <a:solidFill>
                  <a:srgbClr val="262626"/>
                </a:solidFill>
                <a:latin typeface="Garamond" pitchFamily="18" charset="0"/>
              </a:rPr>
              <a:t>The images show anatomical structures such as vessels, rays, and parenchyma.</a:t>
            </a:r>
          </a:p>
          <a:p>
            <a:pPr marL="228600" indent="-228600">
              <a:spcBef>
                <a:spcPts val="500"/>
              </a:spcBef>
              <a:buClr>
                <a:srgbClr val="A51C30"/>
              </a:buClr>
              <a:buFont typeface="Arial"/>
              <a:buChar char="–"/>
            </a:pPr>
            <a:r>
              <a:rPr lang="en-US" sz="1700" dirty="0">
                <a:solidFill>
                  <a:srgbClr val="262626"/>
                </a:solidFill>
                <a:latin typeface="Garamond" pitchFamily="18" charset="0"/>
              </a:rPr>
              <a:t>The number of images per specimen varies.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buNone/>
            </a:pPr>
            <a:r>
              <a:rPr lang="en-US" sz="1200">
                <a:solidFill>
                  <a:srgbClr val="898989"/>
                </a:solidFill>
                <a:latin typeface="Garamond" pitchFamily="18" charset="0"/>
              </a:rPr>
              <a:t>@Martin Mayer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73807-B068-4863-956B-F1B336131749}" type="slidenum">
              <a:rPr lang="en-US"/>
              <a:t>5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2018F83-32A4-4ED8-6836-E59B9350C117}"/>
              </a:ext>
            </a:extLst>
          </p:cNvPr>
          <p:cNvSpPr txBox="1"/>
          <p:nvPr/>
        </p:nvSpPr>
        <p:spPr>
          <a:xfrm>
            <a:off x="6477000" y="1143000"/>
            <a:ext cx="178575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US" sz="1200" i="1" dirty="0" err="1">
                <a:latin typeface="Garamond" panose="02020404030301010803" pitchFamily="18" charset="0"/>
              </a:rPr>
              <a:t>Betula</a:t>
            </a:r>
            <a:r>
              <a:rPr lang="es-US" sz="1200" i="1" err="1">
                <a:latin typeface="Garamond" panose="02020404030301010803" pitchFamily="18" charset="0"/>
              </a:rPr>
              <a:t> (Birch)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AEF6457-F299-9F24-9861-D07BB11826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1450" y="1491574"/>
            <a:ext cx="3292496" cy="3292496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08844C12-C863-09DC-FA9D-51153B0D5C6E}"/>
              </a:ext>
            </a:extLst>
          </p:cNvPr>
          <p:cNvSpPr txBox="1"/>
          <p:nvPr/>
        </p:nvSpPr>
        <p:spPr>
          <a:xfrm>
            <a:off x="5029200" y="4815738"/>
            <a:ext cx="4572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i="1" dirty="0">
                <a:latin typeface="Garamond" panose="02020404030301010803" pitchFamily="18" charset="0"/>
              </a:rPr>
              <a:t>Examples:</a:t>
            </a:r>
          </a:p>
          <a:p>
            <a:r>
              <a:rPr lang="en-US" sz="1200" i="1" dirty="0">
                <a:latin typeface="Garamond" panose="02020404030301010803" pitchFamily="18" charset="0"/>
              </a:rPr>
              <a:t>- Vessels: Large, white circular or oval pores.</a:t>
            </a:r>
          </a:p>
          <a:p>
            <a:r>
              <a:rPr lang="en-US" sz="1200" i="1" dirty="0">
                <a:latin typeface="Garamond" panose="02020404030301010803" pitchFamily="18" charset="0"/>
              </a:rPr>
              <a:t>- Rays: Narrow, straight bands running across the wood tissue.</a:t>
            </a:r>
          </a:p>
          <a:p>
            <a:r>
              <a:rPr lang="en-US" sz="1200" i="1" dirty="0">
                <a:latin typeface="Garamond" panose="02020404030301010803" pitchFamily="18" charset="0"/>
              </a:rPr>
              <a:t>- Parenchyma: Smaller cells forming lighter tissue around vessels or in thin bands.</a:t>
            </a:r>
            <a:endParaRPr lang="es-US" sz="1200" i="1" dirty="0">
              <a:latin typeface="Garamond" panose="02020404030301010803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8449"/>
    </mc:Choice>
    <mc:Fallback>
      <p:transition spd="slow" advTm="38449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>
                <a:latin typeface="Garamond" pitchFamily="18" charset="0"/>
              </a:rPr>
              <a:t>Leakage-aware split</a:t>
            </a:r>
          </a:p>
        </p:txBody>
      </p:sp>
      <p:sp>
        <p:nvSpPr>
          <p:cNvPr id="118" name="Shape 118"/>
          <p:cNvSpPr/>
          <p:nvPr/>
        </p:nvSpPr>
        <p:spPr>
          <a:xfrm>
            <a:off x="457200" y="1210000"/>
            <a:ext cx="2400000" cy="720000"/>
          </a:xfrm>
          <a:prstGeom prst="rect">
            <a:avLst/>
          </a:prstGeom>
          <a:solidFill>
            <a:srgbClr val="DCE6F1"/>
          </a:solidFill>
          <a:ln w="12700">
            <a:solidFill>
              <a:srgbClr val="4F81BD"/>
            </a:solidFill>
          </a:ln>
        </p:spPr>
        <p:txBody>
          <a:bodyPr wrap="square" rtlCol="0" anchor="ctr">
            <a:normAutofit/>
          </a:bodyPr>
          <a:lstStyle/>
          <a:p>
            <a:pPr algn="ctr">
              <a:buNone/>
            </a:pPr>
            <a:r>
              <a:rPr lang="en-US" sz="1650" b="1">
                <a:solidFill>
                  <a:srgbClr val="1F497D"/>
                </a:solidFill>
                <a:latin typeface="Garamond" pitchFamily="18" charset="0"/>
              </a:rPr>
              <a:t>Specimen A</a:t>
            </a:r>
          </a:p>
          <a:p>
            <a:pPr algn="ctr">
              <a:spcBef>
                <a:spcPts val="200"/>
              </a:spcBef>
              <a:buNone/>
            </a:pPr>
            <a:r>
              <a:rPr lang="en-US" sz="1150" i="1">
                <a:solidFill>
                  <a:srgbClr val="595959"/>
                </a:solidFill>
                <a:latin typeface="Garamond" pitchFamily="18" charset="0"/>
              </a:rPr>
              <a:t>all its images together</a:t>
            </a:r>
          </a:p>
        </p:txBody>
      </p:sp>
      <p:sp>
        <p:nvSpPr>
          <p:cNvPr id="119" name="Arrow"/>
          <p:cNvSpPr/>
          <p:nvPr/>
        </p:nvSpPr>
        <p:spPr>
          <a:xfrm>
            <a:off x="1567200" y="2010000"/>
            <a:ext cx="180000" cy="300000"/>
          </a:xfrm>
          <a:prstGeom prst="downArrow">
            <a:avLst/>
          </a:prstGeom>
          <a:solidFill>
            <a:srgbClr val="808080"/>
          </a:solidFill>
          <a:ln>
            <a:noFill/>
          </a:ln>
        </p:spPr>
        <p:txBody>
          <a:bodyPr wrap="square" rtlCol="0" anchor="ctr">
            <a:normAutofit fontScale="70000" lnSpcReduction="20000"/>
          </a:bodyPr>
          <a:lstStyle/>
          <a:p>
            <a:pPr>
              <a:buNone/>
            </a:pPr>
            <a:endParaRPr lang="en-US"/>
          </a:p>
        </p:txBody>
      </p:sp>
      <p:sp>
        <p:nvSpPr>
          <p:cNvPr id="120" name="Shape 120"/>
          <p:cNvSpPr/>
          <p:nvPr/>
        </p:nvSpPr>
        <p:spPr>
          <a:xfrm>
            <a:off x="3372000" y="1210000"/>
            <a:ext cx="2400000" cy="720000"/>
          </a:xfrm>
          <a:prstGeom prst="rect">
            <a:avLst/>
          </a:prstGeom>
          <a:solidFill>
            <a:srgbClr val="DCE6F1"/>
          </a:solidFill>
          <a:ln w="12700">
            <a:solidFill>
              <a:srgbClr val="4F81BD"/>
            </a:solidFill>
          </a:ln>
        </p:spPr>
        <p:txBody>
          <a:bodyPr wrap="square" rtlCol="0" anchor="ctr">
            <a:normAutofit/>
          </a:bodyPr>
          <a:lstStyle/>
          <a:p>
            <a:pPr algn="ctr">
              <a:buNone/>
            </a:pPr>
            <a:r>
              <a:rPr lang="en-US" sz="1650" b="1">
                <a:solidFill>
                  <a:srgbClr val="1F497D"/>
                </a:solidFill>
                <a:latin typeface="Garamond" pitchFamily="18" charset="0"/>
              </a:rPr>
              <a:t>Specimen B</a:t>
            </a:r>
          </a:p>
          <a:p>
            <a:pPr algn="ctr">
              <a:spcBef>
                <a:spcPts val="200"/>
              </a:spcBef>
              <a:buNone/>
            </a:pPr>
            <a:r>
              <a:rPr lang="en-US" sz="1150" i="1">
                <a:solidFill>
                  <a:srgbClr val="595959"/>
                </a:solidFill>
                <a:latin typeface="Garamond" pitchFamily="18" charset="0"/>
              </a:rPr>
              <a:t>all its images together</a:t>
            </a:r>
          </a:p>
        </p:txBody>
      </p:sp>
      <p:sp>
        <p:nvSpPr>
          <p:cNvPr id="121" name="Arrow"/>
          <p:cNvSpPr/>
          <p:nvPr/>
        </p:nvSpPr>
        <p:spPr>
          <a:xfrm>
            <a:off x="4482000" y="2010000"/>
            <a:ext cx="180000" cy="300000"/>
          </a:xfrm>
          <a:prstGeom prst="downArrow">
            <a:avLst/>
          </a:prstGeom>
          <a:solidFill>
            <a:srgbClr val="808080"/>
          </a:solidFill>
          <a:ln>
            <a:noFill/>
          </a:ln>
        </p:spPr>
        <p:txBody>
          <a:bodyPr wrap="square" rtlCol="0" anchor="ctr">
            <a:normAutofit fontScale="70000" lnSpcReduction="20000"/>
          </a:bodyPr>
          <a:lstStyle/>
          <a:p>
            <a:pPr>
              <a:buNone/>
            </a:pPr>
            <a:endParaRPr lang="en-US"/>
          </a:p>
        </p:txBody>
      </p:sp>
      <p:sp>
        <p:nvSpPr>
          <p:cNvPr id="122" name="Shape 122"/>
          <p:cNvSpPr/>
          <p:nvPr/>
        </p:nvSpPr>
        <p:spPr>
          <a:xfrm>
            <a:off x="6286800" y="1210000"/>
            <a:ext cx="2400000" cy="720000"/>
          </a:xfrm>
          <a:prstGeom prst="rect">
            <a:avLst/>
          </a:prstGeom>
          <a:solidFill>
            <a:srgbClr val="DCE6F1"/>
          </a:solidFill>
          <a:ln w="12700">
            <a:solidFill>
              <a:srgbClr val="4F81BD"/>
            </a:solidFill>
          </a:ln>
        </p:spPr>
        <p:txBody>
          <a:bodyPr wrap="square" rtlCol="0" anchor="ctr">
            <a:normAutofit/>
          </a:bodyPr>
          <a:lstStyle/>
          <a:p>
            <a:pPr algn="ctr">
              <a:buNone/>
            </a:pPr>
            <a:r>
              <a:rPr lang="en-US" sz="1650" b="1">
                <a:solidFill>
                  <a:srgbClr val="1F497D"/>
                </a:solidFill>
                <a:latin typeface="Garamond" pitchFamily="18" charset="0"/>
              </a:rPr>
              <a:t>Specimen C</a:t>
            </a:r>
          </a:p>
          <a:p>
            <a:pPr algn="ctr">
              <a:spcBef>
                <a:spcPts val="200"/>
              </a:spcBef>
              <a:buNone/>
            </a:pPr>
            <a:r>
              <a:rPr lang="en-US" sz="1150" i="1">
                <a:solidFill>
                  <a:srgbClr val="595959"/>
                </a:solidFill>
                <a:latin typeface="Garamond" pitchFamily="18" charset="0"/>
              </a:rPr>
              <a:t>all its images together</a:t>
            </a:r>
          </a:p>
        </p:txBody>
      </p:sp>
      <p:sp>
        <p:nvSpPr>
          <p:cNvPr id="123" name="Arrow"/>
          <p:cNvSpPr/>
          <p:nvPr/>
        </p:nvSpPr>
        <p:spPr>
          <a:xfrm>
            <a:off x="7396800" y="2010000"/>
            <a:ext cx="180000" cy="300000"/>
          </a:xfrm>
          <a:prstGeom prst="downArrow">
            <a:avLst/>
          </a:prstGeom>
          <a:solidFill>
            <a:srgbClr val="808080"/>
          </a:solidFill>
          <a:ln>
            <a:noFill/>
          </a:ln>
        </p:spPr>
        <p:txBody>
          <a:bodyPr wrap="square" rtlCol="0" anchor="ctr">
            <a:normAutofit fontScale="70000" lnSpcReduction="20000"/>
          </a:bodyPr>
          <a:lstStyle/>
          <a:p>
            <a:pPr>
              <a:buNone/>
            </a:pPr>
            <a:endParaRPr lang="en-US"/>
          </a:p>
        </p:txBody>
      </p:sp>
      <p:sp>
        <p:nvSpPr>
          <p:cNvPr id="124" name="Shape 124"/>
          <p:cNvSpPr/>
          <p:nvPr/>
        </p:nvSpPr>
        <p:spPr>
          <a:xfrm>
            <a:off x="457200" y="2360000"/>
            <a:ext cx="2400000" cy="620000"/>
          </a:xfrm>
          <a:prstGeom prst="rect">
            <a:avLst/>
          </a:prstGeom>
          <a:solidFill>
            <a:srgbClr val="1F497D"/>
          </a:solidFill>
          <a:ln w="12700">
            <a:solidFill>
              <a:srgbClr val="1F497D"/>
            </a:solidFill>
          </a:ln>
        </p:spPr>
        <p:txBody>
          <a:bodyPr wrap="square" rtlCol="0" anchor="ctr">
            <a:normAutofit/>
          </a:bodyPr>
          <a:lstStyle/>
          <a:p>
            <a:pPr algn="ctr">
              <a:buNone/>
            </a:pPr>
            <a:r>
              <a:rPr lang="en-US" sz="1750" b="1">
                <a:solidFill>
                  <a:srgbClr val="FFFFFF"/>
                </a:solidFill>
                <a:latin typeface="Garamond" pitchFamily="18" charset="0"/>
              </a:rPr>
              <a:t>Train</a:t>
            </a:r>
          </a:p>
        </p:txBody>
      </p:sp>
      <p:sp>
        <p:nvSpPr>
          <p:cNvPr id="125" name="Shape 125"/>
          <p:cNvSpPr/>
          <p:nvPr/>
        </p:nvSpPr>
        <p:spPr>
          <a:xfrm>
            <a:off x="3372000" y="2360000"/>
            <a:ext cx="2400000" cy="620000"/>
          </a:xfrm>
          <a:prstGeom prst="rect">
            <a:avLst/>
          </a:prstGeom>
          <a:solidFill>
            <a:srgbClr val="1F497D"/>
          </a:solidFill>
          <a:ln w="12700">
            <a:solidFill>
              <a:srgbClr val="1F497D"/>
            </a:solidFill>
          </a:ln>
        </p:spPr>
        <p:txBody>
          <a:bodyPr wrap="square" rtlCol="0" anchor="ctr">
            <a:normAutofit/>
          </a:bodyPr>
          <a:lstStyle/>
          <a:p>
            <a:pPr algn="ctr">
              <a:buNone/>
            </a:pPr>
            <a:r>
              <a:rPr lang="en-US" sz="1750" b="1">
                <a:solidFill>
                  <a:srgbClr val="FFFFFF"/>
                </a:solidFill>
                <a:latin typeface="Garamond" pitchFamily="18" charset="0"/>
              </a:rPr>
              <a:t>Validation</a:t>
            </a:r>
          </a:p>
        </p:txBody>
      </p:sp>
      <p:sp>
        <p:nvSpPr>
          <p:cNvPr id="126" name="Shape 126"/>
          <p:cNvSpPr/>
          <p:nvPr/>
        </p:nvSpPr>
        <p:spPr>
          <a:xfrm>
            <a:off x="6286800" y="2360000"/>
            <a:ext cx="2400000" cy="620000"/>
          </a:xfrm>
          <a:prstGeom prst="rect">
            <a:avLst/>
          </a:prstGeom>
          <a:solidFill>
            <a:srgbClr val="1F497D"/>
          </a:solidFill>
          <a:ln w="12700">
            <a:solidFill>
              <a:srgbClr val="1F497D"/>
            </a:solidFill>
          </a:ln>
        </p:spPr>
        <p:txBody>
          <a:bodyPr wrap="square" rtlCol="0" anchor="ctr">
            <a:normAutofit/>
          </a:bodyPr>
          <a:lstStyle/>
          <a:p>
            <a:pPr algn="ctr">
              <a:buNone/>
            </a:pPr>
            <a:r>
              <a:rPr lang="en-US" sz="1750" b="1">
                <a:solidFill>
                  <a:srgbClr val="FFFFFF"/>
                </a:solidFill>
                <a:latin typeface="Garamond" pitchFamily="18" charset="0"/>
              </a:rPr>
              <a:t>Test</a:t>
            </a:r>
          </a:p>
        </p:txBody>
      </p:sp>
      <p:sp>
        <p:nvSpPr>
          <p:cNvPr id="127" name="Text 127"/>
          <p:cNvSpPr txBox="1"/>
          <p:nvPr/>
        </p:nvSpPr>
        <p:spPr>
          <a:xfrm>
            <a:off x="457200" y="3200000"/>
            <a:ext cx="8229600" cy="2400000"/>
          </a:xfrm>
          <a:prstGeom prst="rect">
            <a:avLst/>
          </a:prstGeom>
          <a:noFill/>
        </p:spPr>
        <p:txBody>
          <a:bodyPr wrap="square" lIns="0" rIns="0" rtlCol="0" anchor="t">
            <a:normAutofit/>
          </a:bodyPr>
          <a:lstStyle/>
          <a:p>
            <a:pPr marL="228600" indent="-228600">
              <a:spcBef>
                <a:spcPts val="500"/>
              </a:spcBef>
              <a:buClr>
                <a:srgbClr val="A51C30"/>
              </a:buClr>
              <a:buFont typeface="Arial"/>
              <a:buChar char="–"/>
            </a:pPr>
            <a:r>
              <a:rPr lang="en-US" sz="1600" dirty="0">
                <a:solidFill>
                  <a:srgbClr val="262626"/>
                </a:solidFill>
                <a:latin typeface="Garamond" pitchFamily="18" charset="0"/>
              </a:rPr>
              <a:t>Images from the same physical specimen are highly correlated.</a:t>
            </a:r>
          </a:p>
          <a:p>
            <a:pPr marL="228600" indent="-228600">
              <a:spcBef>
                <a:spcPts val="500"/>
              </a:spcBef>
              <a:buClr>
                <a:srgbClr val="A51C30"/>
              </a:buClr>
              <a:buFont typeface="Arial"/>
              <a:buChar char="–"/>
            </a:pPr>
            <a:r>
              <a:rPr lang="en-US" sz="1600" dirty="0">
                <a:solidFill>
                  <a:srgbClr val="262626"/>
                </a:solidFill>
                <a:latin typeface="Garamond" pitchFamily="18" charset="0"/>
              </a:rPr>
              <a:t>Splitting by image would leak specimen information across train and test.</a:t>
            </a:r>
          </a:p>
          <a:p>
            <a:pPr marL="228600" indent="-228600">
              <a:spcBef>
                <a:spcPts val="500"/>
              </a:spcBef>
              <a:buClr>
                <a:srgbClr val="A51C30"/>
              </a:buClr>
              <a:buFont typeface="Arial"/>
              <a:buChar char="–"/>
            </a:pPr>
            <a:r>
              <a:rPr lang="en-US" sz="1600" dirty="0">
                <a:solidFill>
                  <a:srgbClr val="262626"/>
                </a:solidFill>
                <a:latin typeface="Garamond" pitchFamily="18" charset="0"/>
              </a:rPr>
              <a:t>We split by specimen: every image from a specimen stays in one partition.</a:t>
            </a:r>
          </a:p>
          <a:p>
            <a:pPr marL="228600" indent="-228600">
              <a:spcBef>
                <a:spcPts val="500"/>
              </a:spcBef>
              <a:buClr>
                <a:srgbClr val="A51C30"/>
              </a:buClr>
              <a:buFont typeface="Arial"/>
              <a:buChar char="–"/>
            </a:pPr>
            <a:r>
              <a:rPr lang="en-US" sz="1600" dirty="0">
                <a:solidFill>
                  <a:srgbClr val="262626"/>
                </a:solidFill>
                <a:latin typeface="Garamond" pitchFamily="18" charset="0"/>
              </a:rPr>
              <a:t>This gives a more realistic estimate of generalization to unseen specimens..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buNone/>
            </a:pPr>
            <a:r>
              <a:rPr lang="en-US" sz="1200">
                <a:solidFill>
                  <a:srgbClr val="898989"/>
                </a:solidFill>
                <a:latin typeface="Garamond" pitchFamily="18" charset="0"/>
              </a:rPr>
              <a:t>@Martin Mayer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73807-B068-4863-956B-F1B336131749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3890"/>
    </mc:Choice>
    <mc:Fallback>
      <p:transition spd="slow" advTm="33890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>
                <a:latin typeface="Garamond" pitchFamily="18" charset="0"/>
              </a:rPr>
              <a:t>Data preparation pipeline</a:t>
            </a:r>
          </a:p>
        </p:txBody>
      </p:sp>
      <p:sp>
        <p:nvSpPr>
          <p:cNvPr id="128" name="Step 1"/>
          <p:cNvSpPr/>
          <p:nvPr/>
        </p:nvSpPr>
        <p:spPr>
          <a:xfrm>
            <a:off x="457200" y="1400000"/>
            <a:ext cx="2400000" cy="1020000"/>
          </a:xfrm>
          <a:prstGeom prst="rect">
            <a:avLst/>
          </a:prstGeom>
          <a:solidFill>
            <a:srgbClr val="FFFFFF"/>
          </a:solidFill>
          <a:ln w="15875">
            <a:solidFill>
              <a:srgbClr val="4F81BD"/>
            </a:solidFill>
          </a:ln>
        </p:spPr>
        <p:txBody>
          <a:bodyPr wrap="square" rtlCol="0" anchor="ctr">
            <a:normAutofit/>
          </a:bodyPr>
          <a:lstStyle/>
          <a:p>
            <a:pPr algn="ctr">
              <a:buNone/>
            </a:pPr>
            <a:r>
              <a:rPr lang="en-US" sz="1150" b="1">
                <a:solidFill>
                  <a:srgbClr val="A51C30"/>
                </a:solidFill>
                <a:latin typeface="Garamond" pitchFamily="18" charset="0"/>
              </a:rPr>
              <a:t>Step 1</a:t>
            </a:r>
          </a:p>
          <a:p>
            <a:pPr algn="ctr">
              <a:spcBef>
                <a:spcPts val="200"/>
              </a:spcBef>
              <a:buNone/>
            </a:pPr>
            <a:r>
              <a:rPr lang="en-US" sz="1500" b="1">
                <a:solidFill>
                  <a:srgbClr val="1F497D"/>
                </a:solidFill>
                <a:latin typeface="Garamond" pitchFamily="18" charset="0"/>
              </a:rPr>
              <a:t>HDF5 archive</a:t>
            </a:r>
          </a:p>
          <a:p>
            <a:pPr algn="ctr">
              <a:spcBef>
                <a:spcPts val="200"/>
              </a:spcBef>
              <a:buNone/>
            </a:pPr>
            <a:r>
              <a:rPr lang="en-US" sz="1050" i="1">
                <a:solidFill>
                  <a:srgbClr val="595959"/>
                </a:solidFill>
                <a:latin typeface="Garamond" pitchFamily="18" charset="0"/>
              </a:rPr>
              <a:t>Raw images and taxonomy</a:t>
            </a:r>
          </a:p>
        </p:txBody>
      </p:sp>
      <p:sp>
        <p:nvSpPr>
          <p:cNvPr id="129" name="Arrow"/>
          <p:cNvSpPr/>
          <p:nvPr/>
        </p:nvSpPr>
        <p:spPr>
          <a:xfrm>
            <a:off x="2927200" y="1820000"/>
            <a:ext cx="375000" cy="180000"/>
          </a:xfrm>
          <a:prstGeom prst="rightArrow">
            <a:avLst/>
          </a:prstGeom>
          <a:solidFill>
            <a:srgbClr val="4F81BD"/>
          </a:solidFill>
          <a:ln>
            <a:noFill/>
          </a:ln>
        </p:spPr>
        <p:txBody>
          <a:bodyPr wrap="square" rtlCol="0" anchor="ctr"/>
          <a:lstStyle/>
          <a:p>
            <a:pPr>
              <a:buNone/>
            </a:pPr>
            <a:endParaRPr lang="en-US"/>
          </a:p>
        </p:txBody>
      </p:sp>
      <p:sp>
        <p:nvSpPr>
          <p:cNvPr id="130" name="Step 2"/>
          <p:cNvSpPr/>
          <p:nvPr/>
        </p:nvSpPr>
        <p:spPr>
          <a:xfrm>
            <a:off x="3372000" y="1400000"/>
            <a:ext cx="2400000" cy="1020000"/>
          </a:xfrm>
          <a:prstGeom prst="rect">
            <a:avLst/>
          </a:prstGeom>
          <a:solidFill>
            <a:srgbClr val="FFFFFF"/>
          </a:solidFill>
          <a:ln w="15875">
            <a:solidFill>
              <a:srgbClr val="4F81BD"/>
            </a:solidFill>
          </a:ln>
        </p:spPr>
        <p:txBody>
          <a:bodyPr wrap="square" rtlCol="0" anchor="ctr">
            <a:normAutofit/>
          </a:bodyPr>
          <a:lstStyle/>
          <a:p>
            <a:pPr algn="ctr">
              <a:buNone/>
            </a:pPr>
            <a:r>
              <a:rPr lang="en-US" sz="1150" b="1">
                <a:solidFill>
                  <a:srgbClr val="A51C30"/>
                </a:solidFill>
                <a:latin typeface="Garamond" pitchFamily="18" charset="0"/>
              </a:rPr>
              <a:t>Step 2</a:t>
            </a:r>
          </a:p>
          <a:p>
            <a:pPr algn="ctr">
              <a:spcBef>
                <a:spcPts val="200"/>
              </a:spcBef>
              <a:buNone/>
            </a:pPr>
            <a:r>
              <a:rPr lang="en-US" sz="1500" b="1">
                <a:solidFill>
                  <a:srgbClr val="1F497D"/>
                </a:solidFill>
                <a:latin typeface="Garamond" pitchFamily="18" charset="0"/>
              </a:rPr>
              <a:t>Metadata manifest</a:t>
            </a:r>
          </a:p>
          <a:p>
            <a:pPr algn="ctr">
              <a:spcBef>
                <a:spcPts val="200"/>
              </a:spcBef>
              <a:buNone/>
            </a:pPr>
            <a:r>
              <a:rPr lang="en-US" sz="1050" i="1">
                <a:solidFill>
                  <a:srgbClr val="595959"/>
                </a:solidFill>
                <a:latin typeface="Garamond" pitchFamily="18" charset="0"/>
              </a:rPr>
              <a:t>One row per image</a:t>
            </a:r>
          </a:p>
        </p:txBody>
      </p:sp>
      <p:sp>
        <p:nvSpPr>
          <p:cNvPr id="131" name="Arrow"/>
          <p:cNvSpPr/>
          <p:nvPr/>
        </p:nvSpPr>
        <p:spPr>
          <a:xfrm>
            <a:off x="5842000" y="1820000"/>
            <a:ext cx="375000" cy="180000"/>
          </a:xfrm>
          <a:prstGeom prst="rightArrow">
            <a:avLst/>
          </a:prstGeom>
          <a:solidFill>
            <a:srgbClr val="4F81BD"/>
          </a:solidFill>
          <a:ln>
            <a:noFill/>
          </a:ln>
        </p:spPr>
        <p:txBody>
          <a:bodyPr wrap="square" rtlCol="0" anchor="ctr"/>
          <a:lstStyle/>
          <a:p>
            <a:pPr>
              <a:buNone/>
            </a:pPr>
            <a:endParaRPr lang="en-US"/>
          </a:p>
        </p:txBody>
      </p:sp>
      <p:sp>
        <p:nvSpPr>
          <p:cNvPr id="132" name="Step 3"/>
          <p:cNvSpPr/>
          <p:nvPr/>
        </p:nvSpPr>
        <p:spPr>
          <a:xfrm>
            <a:off x="6286800" y="1400000"/>
            <a:ext cx="2400000" cy="1020000"/>
          </a:xfrm>
          <a:prstGeom prst="rect">
            <a:avLst/>
          </a:prstGeom>
          <a:solidFill>
            <a:srgbClr val="FFFFFF"/>
          </a:solidFill>
          <a:ln w="15875">
            <a:solidFill>
              <a:srgbClr val="4F81BD"/>
            </a:solidFill>
          </a:ln>
        </p:spPr>
        <p:txBody>
          <a:bodyPr wrap="square" rtlCol="0" anchor="ctr">
            <a:normAutofit/>
          </a:bodyPr>
          <a:lstStyle/>
          <a:p>
            <a:pPr algn="ctr">
              <a:buNone/>
            </a:pPr>
            <a:r>
              <a:rPr lang="en-US" sz="1150" b="1">
                <a:solidFill>
                  <a:srgbClr val="A51C30"/>
                </a:solidFill>
                <a:latin typeface="Garamond" pitchFamily="18" charset="0"/>
              </a:rPr>
              <a:t>Step 3</a:t>
            </a:r>
          </a:p>
          <a:p>
            <a:pPr algn="ctr">
              <a:spcBef>
                <a:spcPts val="200"/>
              </a:spcBef>
              <a:buNone/>
            </a:pPr>
            <a:r>
              <a:rPr lang="en-US" sz="1500" b="1">
                <a:solidFill>
                  <a:srgbClr val="1F497D"/>
                </a:solidFill>
                <a:latin typeface="Garamond" pitchFamily="18" charset="0"/>
              </a:rPr>
              <a:t>Genus filtering</a:t>
            </a:r>
          </a:p>
          <a:p>
            <a:pPr algn="ctr">
              <a:spcBef>
                <a:spcPts val="200"/>
              </a:spcBef>
              <a:buNone/>
            </a:pPr>
            <a:r>
              <a:rPr lang="en-US" sz="1050" i="1">
                <a:solidFill>
                  <a:srgbClr val="595959"/>
                </a:solidFill>
                <a:latin typeface="Garamond" pitchFamily="18" charset="0"/>
              </a:rPr>
              <a:t>Keep genera with ≥12 specimens</a:t>
            </a:r>
          </a:p>
        </p:txBody>
      </p:sp>
      <p:sp>
        <p:nvSpPr>
          <p:cNvPr id="138" name="Arrow Down"/>
          <p:cNvSpPr/>
          <p:nvPr/>
        </p:nvSpPr>
        <p:spPr>
          <a:xfrm>
            <a:off x="7386800" y="2450000"/>
            <a:ext cx="200000" cy="640000"/>
          </a:xfrm>
          <a:prstGeom prst="downArrow">
            <a:avLst/>
          </a:prstGeom>
          <a:solidFill>
            <a:srgbClr val="4F81BD"/>
          </a:solidFill>
          <a:ln>
            <a:noFill/>
          </a:ln>
        </p:spPr>
        <p:txBody>
          <a:bodyPr wrap="square" rtlCol="0" anchor="ctr"/>
          <a:lstStyle/>
          <a:p>
            <a:endParaRPr lang="en-US"/>
          </a:p>
        </p:txBody>
      </p:sp>
      <p:sp>
        <p:nvSpPr>
          <p:cNvPr id="133" name="Step 4"/>
          <p:cNvSpPr/>
          <p:nvPr/>
        </p:nvSpPr>
        <p:spPr>
          <a:xfrm>
            <a:off x="6286800" y="3120000"/>
            <a:ext cx="2400000" cy="1020000"/>
          </a:xfrm>
          <a:prstGeom prst="rect">
            <a:avLst/>
          </a:prstGeom>
          <a:solidFill>
            <a:srgbClr val="FFFFFF"/>
          </a:solidFill>
          <a:ln w="15875">
            <a:solidFill>
              <a:srgbClr val="4F81BD"/>
            </a:solidFill>
          </a:ln>
        </p:spPr>
        <p:txBody>
          <a:bodyPr wrap="square" rtlCol="0" anchor="ctr">
            <a:normAutofit/>
          </a:bodyPr>
          <a:lstStyle/>
          <a:p>
            <a:pPr algn="ctr">
              <a:buNone/>
            </a:pPr>
            <a:r>
              <a:rPr lang="en-US" sz="1150" b="1">
                <a:solidFill>
                  <a:srgbClr val="A51C30"/>
                </a:solidFill>
                <a:latin typeface="Garamond" pitchFamily="18" charset="0"/>
              </a:rPr>
              <a:t>Step 4</a:t>
            </a:r>
          </a:p>
          <a:p>
            <a:pPr algn="ctr">
              <a:spcBef>
                <a:spcPts val="200"/>
              </a:spcBef>
              <a:buNone/>
            </a:pPr>
            <a:r>
              <a:rPr lang="en-US" sz="1500" b="1">
                <a:solidFill>
                  <a:srgbClr val="1F497D"/>
                </a:solidFill>
                <a:latin typeface="Garamond" pitchFamily="18" charset="0"/>
              </a:rPr>
              <a:t>Specimen-level split</a:t>
            </a:r>
          </a:p>
          <a:p>
            <a:pPr algn="ctr">
              <a:spcBef>
                <a:spcPts val="200"/>
              </a:spcBef>
              <a:buNone/>
            </a:pPr>
            <a:r>
              <a:rPr lang="en-US" sz="1050" i="1">
                <a:solidFill>
                  <a:srgbClr val="595959"/>
                </a:solidFill>
                <a:latin typeface="Garamond" pitchFamily="18" charset="0"/>
              </a:rPr>
              <a:t>Train / validation / test</a:t>
            </a:r>
          </a:p>
        </p:txBody>
      </p:sp>
      <p:sp>
        <p:nvSpPr>
          <p:cNvPr id="136" name="Arrow"/>
          <p:cNvSpPr/>
          <p:nvPr/>
        </p:nvSpPr>
        <p:spPr>
          <a:xfrm>
            <a:off x="5842000" y="3540000"/>
            <a:ext cx="375000" cy="180000"/>
          </a:xfrm>
          <a:prstGeom prst="leftArrow">
            <a:avLst/>
          </a:prstGeom>
          <a:solidFill>
            <a:srgbClr val="4F81BD"/>
          </a:solidFill>
          <a:ln>
            <a:noFill/>
          </a:ln>
        </p:spPr>
        <p:txBody>
          <a:bodyPr wrap="square" rtlCol="0" anchor="ctr"/>
          <a:lstStyle/>
          <a:p>
            <a:pPr>
              <a:buNone/>
            </a:pPr>
            <a:endParaRPr lang="en-US"/>
          </a:p>
        </p:txBody>
      </p:sp>
      <p:sp>
        <p:nvSpPr>
          <p:cNvPr id="135" name="Step 5"/>
          <p:cNvSpPr/>
          <p:nvPr/>
        </p:nvSpPr>
        <p:spPr>
          <a:xfrm>
            <a:off x="3372000" y="3120000"/>
            <a:ext cx="2400000" cy="1020000"/>
          </a:xfrm>
          <a:prstGeom prst="rect">
            <a:avLst/>
          </a:prstGeom>
          <a:solidFill>
            <a:srgbClr val="FFFFFF"/>
          </a:solidFill>
          <a:ln w="15875">
            <a:solidFill>
              <a:srgbClr val="4F81BD"/>
            </a:solidFill>
          </a:ln>
        </p:spPr>
        <p:txBody>
          <a:bodyPr wrap="square" rtlCol="0" anchor="ctr">
            <a:normAutofit/>
          </a:bodyPr>
          <a:lstStyle/>
          <a:p>
            <a:pPr algn="ctr">
              <a:buNone/>
            </a:pPr>
            <a:r>
              <a:rPr lang="en-US" sz="1150" b="1">
                <a:solidFill>
                  <a:srgbClr val="A51C30"/>
                </a:solidFill>
                <a:latin typeface="Garamond" pitchFamily="18" charset="0"/>
              </a:rPr>
              <a:t>Step 5</a:t>
            </a:r>
          </a:p>
          <a:p>
            <a:pPr algn="ctr">
              <a:spcBef>
                <a:spcPts val="200"/>
              </a:spcBef>
              <a:buNone/>
            </a:pPr>
            <a:r>
              <a:rPr lang="en-US" sz="1500" b="1">
                <a:solidFill>
                  <a:srgbClr val="1F497D"/>
                </a:solidFill>
                <a:latin typeface="Garamond" pitchFamily="18" charset="0"/>
              </a:rPr>
              <a:t>PNG export</a:t>
            </a:r>
          </a:p>
          <a:p>
            <a:pPr algn="ctr">
              <a:spcBef>
                <a:spcPts val="200"/>
              </a:spcBef>
              <a:buNone/>
            </a:pPr>
            <a:r>
              <a:rPr lang="en-US" sz="1050" i="1">
                <a:solidFill>
                  <a:srgbClr val="595959"/>
                </a:solidFill>
                <a:latin typeface="Garamond" pitchFamily="18" charset="0"/>
              </a:rPr>
              <a:t>Preserve split and labels</a:t>
            </a:r>
          </a:p>
        </p:txBody>
      </p:sp>
      <p:sp>
        <p:nvSpPr>
          <p:cNvPr id="134" name="Arrow"/>
          <p:cNvSpPr/>
          <p:nvPr/>
        </p:nvSpPr>
        <p:spPr>
          <a:xfrm>
            <a:off x="2927200" y="3540000"/>
            <a:ext cx="375000" cy="180000"/>
          </a:xfrm>
          <a:prstGeom prst="leftArrow">
            <a:avLst/>
          </a:prstGeom>
          <a:solidFill>
            <a:srgbClr val="4F81BD"/>
          </a:solidFill>
          <a:ln>
            <a:noFill/>
          </a:ln>
        </p:spPr>
        <p:txBody>
          <a:bodyPr wrap="square" rtlCol="0" anchor="ctr"/>
          <a:lstStyle/>
          <a:p>
            <a:pPr>
              <a:buNone/>
            </a:pPr>
            <a:endParaRPr lang="en-US"/>
          </a:p>
        </p:txBody>
      </p:sp>
      <p:sp>
        <p:nvSpPr>
          <p:cNvPr id="137" name="Step 6"/>
          <p:cNvSpPr/>
          <p:nvPr/>
        </p:nvSpPr>
        <p:spPr>
          <a:xfrm>
            <a:off x="457200" y="3120000"/>
            <a:ext cx="2400000" cy="1020000"/>
          </a:xfrm>
          <a:prstGeom prst="rect">
            <a:avLst/>
          </a:prstGeom>
          <a:solidFill>
            <a:srgbClr val="FFFFFF"/>
          </a:solidFill>
          <a:ln w="15875">
            <a:solidFill>
              <a:srgbClr val="4F81BD"/>
            </a:solidFill>
          </a:ln>
        </p:spPr>
        <p:txBody>
          <a:bodyPr wrap="square" rtlCol="0" anchor="ctr">
            <a:normAutofit/>
          </a:bodyPr>
          <a:lstStyle/>
          <a:p>
            <a:pPr algn="ctr">
              <a:buNone/>
            </a:pPr>
            <a:r>
              <a:rPr lang="en-US" sz="1150" b="1">
                <a:solidFill>
                  <a:srgbClr val="A51C30"/>
                </a:solidFill>
                <a:latin typeface="Garamond" pitchFamily="18" charset="0"/>
              </a:rPr>
              <a:t>Step 6</a:t>
            </a:r>
          </a:p>
          <a:p>
            <a:pPr algn="ctr">
              <a:spcBef>
                <a:spcPts val="200"/>
              </a:spcBef>
              <a:buNone/>
            </a:pPr>
            <a:r>
              <a:rPr lang="en-US" sz="1500" b="1">
                <a:solidFill>
                  <a:srgbClr val="1F497D"/>
                </a:solidFill>
                <a:latin typeface="Garamond" pitchFamily="18" charset="0"/>
              </a:rPr>
              <a:t>Model loaders</a:t>
            </a:r>
          </a:p>
          <a:p>
            <a:pPr algn="ctr">
              <a:spcBef>
                <a:spcPts val="200"/>
              </a:spcBef>
              <a:buNone/>
            </a:pPr>
            <a:r>
              <a:rPr lang="en-US" sz="1050" i="1">
                <a:solidFill>
                  <a:srgbClr val="595959"/>
                </a:solidFill>
                <a:latin typeface="Garamond" pitchFamily="18" charset="0"/>
              </a:rPr>
              <a:t>Resize, preprocess, augment</a:t>
            </a:r>
          </a:p>
        </p:txBody>
      </p:sp>
      <p:sp>
        <p:nvSpPr>
          <p:cNvPr id="139" name="Text 139"/>
          <p:cNvSpPr txBox="1"/>
          <p:nvPr/>
        </p:nvSpPr>
        <p:spPr>
          <a:xfrm>
            <a:off x="457200" y="4340000"/>
            <a:ext cx="8229600" cy="300000"/>
          </a:xfrm>
          <a:prstGeom prst="rect">
            <a:avLst/>
          </a:prstGeom>
          <a:noFill/>
        </p:spPr>
        <p:txBody>
          <a:bodyPr wrap="square" lIns="0" rIns="0" rtlCol="0" anchor="t">
            <a:normAutofit lnSpcReduction="10000"/>
          </a:bodyPr>
          <a:lstStyle/>
          <a:p>
            <a:pPr algn="ctr">
              <a:spcBef>
                <a:spcPts val="0"/>
              </a:spcBef>
              <a:buNone/>
            </a:pPr>
            <a:r>
              <a:rPr lang="en-US" sz="1400" i="1">
                <a:solidFill>
                  <a:srgbClr val="595959"/>
                </a:solidFill>
                <a:latin typeface="Garamond" pitchFamily="18" charset="0"/>
              </a:rPr>
              <a:t>Automated, reproducible flow from raw archive to model-ready image folders.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buNone/>
            </a:pPr>
            <a:r>
              <a:rPr lang="en-US" sz="1200">
                <a:solidFill>
                  <a:srgbClr val="898989"/>
                </a:solidFill>
                <a:latin typeface="Garamond" pitchFamily="18" charset="0"/>
              </a:rPr>
              <a:t>@Martin Mayer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73807-B068-4863-956B-F1B336131749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8543"/>
    </mc:Choice>
    <mc:Fallback>
      <p:transition spd="slow" advTm="28543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>
                <a:latin typeface="Garamond" pitchFamily="18" charset="0"/>
              </a:rPr>
              <a:t>Model architecture</a:t>
            </a:r>
          </a:p>
        </p:txBody>
      </p:sp>
      <p:sp>
        <p:nvSpPr>
          <p:cNvPr id="140" name="Shape 140"/>
          <p:cNvSpPr/>
          <p:nvPr/>
        </p:nvSpPr>
        <p:spPr>
          <a:xfrm>
            <a:off x="2133600" y="838200"/>
            <a:ext cx="4600000" cy="490000"/>
          </a:xfrm>
          <a:prstGeom prst="rect">
            <a:avLst/>
          </a:prstGeom>
          <a:solidFill>
            <a:srgbClr val="8DB4E2"/>
          </a:solidFill>
          <a:ln w="12700">
            <a:solidFill>
              <a:srgbClr val="8DB4E2"/>
            </a:solidFill>
          </a:ln>
        </p:spPr>
        <p:txBody>
          <a:bodyPr wrap="square" rtlCol="0" anchor="ctr">
            <a:normAutofit lnSpcReduction="10000"/>
          </a:bodyPr>
          <a:lstStyle/>
          <a:p>
            <a:pPr algn="ctr">
              <a:buNone/>
            </a:pPr>
            <a:r>
              <a:rPr lang="en-US" sz="1550" b="1" dirty="0">
                <a:solidFill>
                  <a:srgbClr val="1F497D"/>
                </a:solidFill>
                <a:latin typeface="Garamond" pitchFamily="18" charset="0"/>
              </a:rPr>
              <a:t>Input</a:t>
            </a:r>
          </a:p>
          <a:p>
            <a:pPr algn="ctr">
              <a:spcBef>
                <a:spcPts val="150"/>
              </a:spcBef>
              <a:buNone/>
            </a:pPr>
            <a:r>
              <a:rPr lang="en-US" sz="1100" i="1" dirty="0">
                <a:solidFill>
                  <a:srgbClr val="595959"/>
                </a:solidFill>
                <a:latin typeface="Garamond" pitchFamily="18" charset="0"/>
              </a:rPr>
              <a:t>384 × 384, grayscale repeated to 3 channels</a:t>
            </a:r>
          </a:p>
        </p:txBody>
      </p:sp>
      <p:sp>
        <p:nvSpPr>
          <p:cNvPr id="141" name="Arrow"/>
          <p:cNvSpPr/>
          <p:nvPr/>
        </p:nvSpPr>
        <p:spPr>
          <a:xfrm>
            <a:off x="4363600" y="1343200"/>
            <a:ext cx="140000" cy="140000"/>
          </a:xfrm>
          <a:prstGeom prst="downArrow">
            <a:avLst/>
          </a:prstGeom>
          <a:solidFill>
            <a:srgbClr val="808080"/>
          </a:solidFill>
          <a:ln>
            <a:noFill/>
          </a:ln>
        </p:spPr>
        <p:txBody>
          <a:bodyPr wrap="square" rtlCol="0" anchor="ctr">
            <a:normAutofit fontScale="25000" lnSpcReduction="20000"/>
          </a:bodyPr>
          <a:lstStyle/>
          <a:p>
            <a:pPr>
              <a:buNone/>
            </a:pPr>
            <a:endParaRPr lang="en-US"/>
          </a:p>
        </p:txBody>
      </p:sp>
      <p:sp>
        <p:nvSpPr>
          <p:cNvPr id="142" name="Shape 142"/>
          <p:cNvSpPr/>
          <p:nvPr/>
        </p:nvSpPr>
        <p:spPr>
          <a:xfrm>
            <a:off x="2133600" y="1498200"/>
            <a:ext cx="4600000" cy="490000"/>
          </a:xfrm>
          <a:prstGeom prst="rect">
            <a:avLst/>
          </a:prstGeom>
          <a:solidFill>
            <a:srgbClr val="1F497D"/>
          </a:solidFill>
          <a:ln w="12700">
            <a:solidFill>
              <a:srgbClr val="1F497D"/>
            </a:solidFill>
          </a:ln>
          <a:effectLst>
            <a:outerShdw blurRad="40000" dist="20000" dir="5400000" rotWithShape="0">
              <a:srgbClr val="000000">
                <a:alpha val="18000"/>
              </a:srgbClr>
            </a:outerShdw>
          </a:effectLst>
        </p:spPr>
        <p:txBody>
          <a:bodyPr wrap="square" rtlCol="0" anchor="ctr">
            <a:normAutofit lnSpcReduction="10000"/>
          </a:bodyPr>
          <a:lstStyle/>
          <a:p>
            <a:pPr algn="ctr">
              <a:buNone/>
            </a:pPr>
            <a:r>
              <a:rPr lang="en-US" sz="1550" b="1">
                <a:solidFill>
                  <a:srgbClr val="FFFFFF"/>
                </a:solidFill>
                <a:latin typeface="Garamond" pitchFamily="18" charset="0"/>
              </a:rPr>
              <a:t>EfficientNetV2B0 backbone</a:t>
            </a:r>
          </a:p>
          <a:p>
            <a:pPr algn="ctr">
              <a:spcBef>
                <a:spcPts val="150"/>
              </a:spcBef>
              <a:buNone/>
            </a:pPr>
            <a:r>
              <a:rPr lang="en-US" sz="1100" i="1">
                <a:solidFill>
                  <a:srgbClr val="FFFFFF"/>
                </a:solidFill>
                <a:latin typeface="Garamond" pitchFamily="18" charset="0"/>
              </a:rPr>
              <a:t>pretrained on ImageNet</a:t>
            </a:r>
          </a:p>
        </p:txBody>
      </p:sp>
      <p:sp>
        <p:nvSpPr>
          <p:cNvPr id="143" name="Arrow"/>
          <p:cNvSpPr/>
          <p:nvPr/>
        </p:nvSpPr>
        <p:spPr>
          <a:xfrm>
            <a:off x="4363600" y="2003200"/>
            <a:ext cx="140000" cy="140000"/>
          </a:xfrm>
          <a:prstGeom prst="downArrow">
            <a:avLst/>
          </a:prstGeom>
          <a:solidFill>
            <a:srgbClr val="808080"/>
          </a:solidFill>
          <a:ln>
            <a:noFill/>
          </a:ln>
        </p:spPr>
        <p:txBody>
          <a:bodyPr wrap="square" rtlCol="0" anchor="ctr">
            <a:normAutofit fontScale="25000" lnSpcReduction="20000"/>
          </a:bodyPr>
          <a:lstStyle/>
          <a:p>
            <a:pPr>
              <a:buNone/>
            </a:pPr>
            <a:endParaRPr lang="en-US"/>
          </a:p>
        </p:txBody>
      </p:sp>
      <p:sp>
        <p:nvSpPr>
          <p:cNvPr id="144" name="Shape 144"/>
          <p:cNvSpPr/>
          <p:nvPr/>
        </p:nvSpPr>
        <p:spPr>
          <a:xfrm>
            <a:off x="2133600" y="2158200"/>
            <a:ext cx="4600000" cy="490000"/>
          </a:xfrm>
          <a:prstGeom prst="rect">
            <a:avLst/>
          </a:prstGeom>
          <a:solidFill>
            <a:srgbClr val="4F81BD"/>
          </a:solidFill>
          <a:ln w="12700">
            <a:solidFill>
              <a:srgbClr val="4F81BD"/>
            </a:solidFill>
          </a:ln>
        </p:spPr>
        <p:txBody>
          <a:bodyPr wrap="square" rtlCol="0" anchor="ctr">
            <a:normAutofit/>
          </a:bodyPr>
          <a:lstStyle/>
          <a:p>
            <a:pPr algn="ctr">
              <a:buNone/>
            </a:pPr>
            <a:r>
              <a:rPr lang="en-US" sz="1550" b="1">
                <a:solidFill>
                  <a:srgbClr val="FFFFFF"/>
                </a:solidFill>
                <a:latin typeface="Garamond" pitchFamily="18" charset="0"/>
              </a:rPr>
              <a:t>Convolution — 64 filters</a:t>
            </a:r>
          </a:p>
        </p:txBody>
      </p:sp>
      <p:sp>
        <p:nvSpPr>
          <p:cNvPr id="145" name="Arrow"/>
          <p:cNvSpPr/>
          <p:nvPr/>
        </p:nvSpPr>
        <p:spPr>
          <a:xfrm>
            <a:off x="4363600" y="2663200"/>
            <a:ext cx="140000" cy="140000"/>
          </a:xfrm>
          <a:prstGeom prst="downArrow">
            <a:avLst/>
          </a:prstGeom>
          <a:solidFill>
            <a:srgbClr val="808080"/>
          </a:solidFill>
          <a:ln>
            <a:noFill/>
          </a:ln>
        </p:spPr>
        <p:txBody>
          <a:bodyPr wrap="square" rtlCol="0" anchor="ctr">
            <a:normAutofit fontScale="25000" lnSpcReduction="20000"/>
          </a:bodyPr>
          <a:lstStyle/>
          <a:p>
            <a:pPr>
              <a:buNone/>
            </a:pPr>
            <a:endParaRPr lang="en-US"/>
          </a:p>
        </p:txBody>
      </p:sp>
      <p:sp>
        <p:nvSpPr>
          <p:cNvPr id="146" name="Shape 146"/>
          <p:cNvSpPr/>
          <p:nvPr/>
        </p:nvSpPr>
        <p:spPr>
          <a:xfrm>
            <a:off x="2133600" y="2818200"/>
            <a:ext cx="4600000" cy="490000"/>
          </a:xfrm>
          <a:prstGeom prst="rect">
            <a:avLst/>
          </a:prstGeom>
          <a:solidFill>
            <a:srgbClr val="4F81BD"/>
          </a:solidFill>
          <a:ln w="12700">
            <a:solidFill>
              <a:srgbClr val="4F81BD"/>
            </a:solidFill>
          </a:ln>
        </p:spPr>
        <p:txBody>
          <a:bodyPr wrap="square" rtlCol="0" anchor="ctr">
            <a:normAutofit/>
          </a:bodyPr>
          <a:lstStyle/>
          <a:p>
            <a:pPr algn="ctr">
              <a:buNone/>
            </a:pPr>
            <a:r>
              <a:rPr lang="en-US" sz="1550" b="1">
                <a:solidFill>
                  <a:srgbClr val="FFFFFF"/>
                </a:solidFill>
                <a:latin typeface="Garamond" pitchFamily="18" charset="0"/>
              </a:rPr>
              <a:t>Global pooling</a:t>
            </a:r>
          </a:p>
        </p:txBody>
      </p:sp>
      <p:sp>
        <p:nvSpPr>
          <p:cNvPr id="147" name="Arrow"/>
          <p:cNvSpPr/>
          <p:nvPr/>
        </p:nvSpPr>
        <p:spPr>
          <a:xfrm>
            <a:off x="4363600" y="3323200"/>
            <a:ext cx="140000" cy="140000"/>
          </a:xfrm>
          <a:prstGeom prst="downArrow">
            <a:avLst/>
          </a:prstGeom>
          <a:solidFill>
            <a:srgbClr val="808080"/>
          </a:solidFill>
          <a:ln>
            <a:noFill/>
          </a:ln>
        </p:spPr>
        <p:txBody>
          <a:bodyPr wrap="square" rtlCol="0" anchor="ctr">
            <a:normAutofit fontScale="25000" lnSpcReduction="20000"/>
          </a:bodyPr>
          <a:lstStyle/>
          <a:p>
            <a:pPr>
              <a:buNone/>
            </a:pPr>
            <a:endParaRPr lang="en-US"/>
          </a:p>
        </p:txBody>
      </p:sp>
      <p:sp>
        <p:nvSpPr>
          <p:cNvPr id="148" name="Shape 148"/>
          <p:cNvSpPr/>
          <p:nvPr/>
        </p:nvSpPr>
        <p:spPr>
          <a:xfrm>
            <a:off x="2133600" y="3478200"/>
            <a:ext cx="4600000" cy="490000"/>
          </a:xfrm>
          <a:prstGeom prst="rect">
            <a:avLst/>
          </a:prstGeom>
          <a:solidFill>
            <a:srgbClr val="4F81BD"/>
          </a:solidFill>
          <a:ln w="12700">
            <a:solidFill>
              <a:srgbClr val="4F81BD"/>
            </a:solidFill>
          </a:ln>
        </p:spPr>
        <p:txBody>
          <a:bodyPr wrap="square" rtlCol="0" anchor="ctr">
            <a:normAutofit lnSpcReduction="10000"/>
          </a:bodyPr>
          <a:lstStyle/>
          <a:p>
            <a:pPr algn="ctr">
              <a:buNone/>
            </a:pPr>
            <a:r>
              <a:rPr lang="en-US" sz="1550" b="1">
                <a:solidFill>
                  <a:srgbClr val="FFFFFF"/>
                </a:solidFill>
                <a:latin typeface="Garamond" pitchFamily="18" charset="0"/>
              </a:rPr>
              <a:t>Dropout</a:t>
            </a:r>
          </a:p>
          <a:p>
            <a:pPr algn="ctr">
              <a:spcBef>
                <a:spcPts val="150"/>
              </a:spcBef>
              <a:buNone/>
            </a:pPr>
            <a:r>
              <a:rPr lang="en-US" sz="1100" i="1">
                <a:solidFill>
                  <a:srgbClr val="FFFFFF"/>
                </a:solidFill>
                <a:latin typeface="Garamond" pitchFamily="18" charset="0"/>
              </a:rPr>
              <a:t>regularization</a:t>
            </a:r>
          </a:p>
        </p:txBody>
      </p:sp>
      <p:sp>
        <p:nvSpPr>
          <p:cNvPr id="149" name="Arrow"/>
          <p:cNvSpPr/>
          <p:nvPr/>
        </p:nvSpPr>
        <p:spPr>
          <a:xfrm>
            <a:off x="4363600" y="3983200"/>
            <a:ext cx="140000" cy="140000"/>
          </a:xfrm>
          <a:prstGeom prst="downArrow">
            <a:avLst/>
          </a:prstGeom>
          <a:solidFill>
            <a:srgbClr val="808080"/>
          </a:solidFill>
          <a:ln>
            <a:noFill/>
          </a:ln>
        </p:spPr>
        <p:txBody>
          <a:bodyPr wrap="square" rtlCol="0" anchor="ctr">
            <a:normAutofit fontScale="25000" lnSpcReduction="20000"/>
          </a:bodyPr>
          <a:lstStyle/>
          <a:p>
            <a:pPr>
              <a:buNone/>
            </a:pPr>
            <a:endParaRPr lang="en-US"/>
          </a:p>
        </p:txBody>
      </p:sp>
      <p:sp>
        <p:nvSpPr>
          <p:cNvPr id="150" name="Shape 150"/>
          <p:cNvSpPr/>
          <p:nvPr/>
        </p:nvSpPr>
        <p:spPr>
          <a:xfrm>
            <a:off x="2133600" y="4138200"/>
            <a:ext cx="4600000" cy="490000"/>
          </a:xfrm>
          <a:prstGeom prst="rect">
            <a:avLst/>
          </a:prstGeom>
          <a:solidFill>
            <a:srgbClr val="A51C30"/>
          </a:solidFill>
          <a:ln w="12700">
            <a:solidFill>
              <a:srgbClr val="A51C30"/>
            </a:solidFill>
          </a:ln>
        </p:spPr>
        <p:txBody>
          <a:bodyPr wrap="square" rtlCol="0" anchor="ctr">
            <a:normAutofit lnSpcReduction="10000"/>
          </a:bodyPr>
          <a:lstStyle/>
          <a:p>
            <a:pPr algn="ctr">
              <a:buNone/>
            </a:pPr>
            <a:r>
              <a:rPr lang="en-US" sz="1550" b="1">
                <a:solidFill>
                  <a:srgbClr val="FFFFFF"/>
                </a:solidFill>
                <a:latin typeface="Garamond" pitchFamily="18" charset="0"/>
              </a:rPr>
              <a:t>Dense — 17-way softmax</a:t>
            </a:r>
          </a:p>
          <a:p>
            <a:pPr algn="ctr">
              <a:spcBef>
                <a:spcPts val="150"/>
              </a:spcBef>
              <a:buNone/>
            </a:pPr>
            <a:r>
              <a:rPr lang="en-US" sz="1100" i="1">
                <a:solidFill>
                  <a:srgbClr val="FFFFFF"/>
                </a:solidFill>
                <a:latin typeface="Garamond" pitchFamily="18" charset="0"/>
              </a:rPr>
              <a:t>genus probabilities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buNone/>
            </a:pPr>
            <a:r>
              <a:rPr lang="en-US" sz="1200">
                <a:solidFill>
                  <a:srgbClr val="898989"/>
                </a:solidFill>
                <a:latin typeface="Garamond" pitchFamily="18" charset="0"/>
              </a:rPr>
              <a:t>@Martin Mayer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73807-B068-4863-956B-F1B336131749}" type="slidenum">
              <a:rPr lang="en-US"/>
              <a:t>8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5DFC825-3893-4F83-2565-8EF0BFD57E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5300" y="4784435"/>
            <a:ext cx="3276600" cy="139786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8661"/>
    </mc:Choice>
    <mc:Fallback>
      <p:transition spd="slow" advTm="5866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>
                <a:latin typeface="Garamond" pitchFamily="18" charset="0"/>
              </a:rPr>
              <a:t>Training strategy</a:t>
            </a:r>
          </a:p>
        </p:txBody>
      </p:sp>
      <p:sp>
        <p:nvSpPr>
          <p:cNvPr id="152" name="Shape 152"/>
          <p:cNvSpPr/>
          <p:nvPr/>
        </p:nvSpPr>
        <p:spPr>
          <a:xfrm>
            <a:off x="457200" y="1250000"/>
            <a:ext cx="3860000" cy="2350000"/>
          </a:xfrm>
          <a:prstGeom prst="rect">
            <a:avLst/>
          </a:prstGeom>
          <a:solidFill>
            <a:srgbClr val="1F497D"/>
          </a:solidFill>
          <a:ln w="12700">
            <a:solidFill>
              <a:srgbClr val="1F497D"/>
            </a:solidFill>
          </a:ln>
        </p:spPr>
        <p:txBody>
          <a:bodyPr wrap="square" rtlCol="0" anchor="t">
            <a:normAutofit/>
          </a:bodyPr>
          <a:lstStyle/>
          <a:p>
            <a:pPr algn="ctr">
              <a:buNone/>
            </a:pPr>
            <a:r>
              <a:rPr lang="en-US" sz="1700" b="1">
                <a:solidFill>
                  <a:srgbClr val="FFFFFF"/>
                </a:solidFill>
                <a:latin typeface="Garamond" pitchFamily="18" charset="0"/>
              </a:rPr>
              <a:t>Stage 1 — Train the head</a:t>
            </a:r>
          </a:p>
        </p:txBody>
      </p:sp>
      <p:sp>
        <p:nvSpPr>
          <p:cNvPr id="153" name="Text 153"/>
          <p:cNvSpPr txBox="1"/>
          <p:nvPr/>
        </p:nvSpPr>
        <p:spPr>
          <a:xfrm>
            <a:off x="717200" y="1900000"/>
            <a:ext cx="3340000" cy="1600000"/>
          </a:xfrm>
          <a:prstGeom prst="rect">
            <a:avLst/>
          </a:prstGeom>
          <a:noFill/>
        </p:spPr>
        <p:txBody>
          <a:bodyPr wrap="square" lIns="0" rIns="0" rtlCol="0" anchor="t">
            <a:normAutofit/>
          </a:bodyPr>
          <a:lstStyle/>
          <a:p>
            <a:pPr marL="228600" indent="-228600">
              <a:spcBef>
                <a:spcPts val="500"/>
              </a:spcBef>
              <a:buClr>
                <a:srgbClr val="DCE6F1"/>
              </a:buClr>
              <a:buFont typeface="Arial"/>
              <a:buChar char="–"/>
            </a:pPr>
            <a:r>
              <a:rPr lang="en-US" sz="1600" dirty="0">
                <a:solidFill>
                  <a:srgbClr val="FFFFFF"/>
                </a:solidFill>
                <a:latin typeface="Garamond" pitchFamily="18" charset="0"/>
              </a:rPr>
              <a:t>Freeze the pretrained backbone.</a:t>
            </a:r>
          </a:p>
          <a:p>
            <a:pPr marL="228600" indent="-228600">
              <a:spcBef>
                <a:spcPts val="500"/>
              </a:spcBef>
              <a:buClr>
                <a:srgbClr val="DCE6F1"/>
              </a:buClr>
              <a:buFont typeface="Arial"/>
              <a:buChar char="–"/>
            </a:pPr>
            <a:r>
              <a:rPr lang="en-US" sz="1600" dirty="0">
                <a:solidFill>
                  <a:srgbClr val="FFFFFF"/>
                </a:solidFill>
                <a:latin typeface="Garamond" pitchFamily="18" charset="0"/>
              </a:rPr>
              <a:t>Train only the new classification head.</a:t>
            </a:r>
          </a:p>
          <a:p>
            <a:pPr marL="228600" indent="-228600">
              <a:spcBef>
                <a:spcPts val="500"/>
              </a:spcBef>
              <a:buClr>
                <a:srgbClr val="DCE6F1"/>
              </a:buClr>
              <a:buFont typeface="Arial"/>
              <a:buChar char="–"/>
            </a:pPr>
            <a:r>
              <a:rPr lang="en-US" sz="1600" dirty="0">
                <a:solidFill>
                  <a:srgbClr val="FFFFFF"/>
                </a:solidFill>
                <a:latin typeface="Garamond" pitchFamily="18" charset="0"/>
              </a:rPr>
              <a:t>Learning rate: 1 × 10⁻³</a:t>
            </a:r>
          </a:p>
        </p:txBody>
      </p:sp>
      <p:sp>
        <p:nvSpPr>
          <p:cNvPr id="154" name="Shape 154"/>
          <p:cNvSpPr/>
          <p:nvPr/>
        </p:nvSpPr>
        <p:spPr>
          <a:xfrm>
            <a:off x="4826800" y="1250000"/>
            <a:ext cx="3860000" cy="2350000"/>
          </a:xfrm>
          <a:prstGeom prst="rect">
            <a:avLst/>
          </a:prstGeom>
          <a:solidFill>
            <a:srgbClr val="A51C30"/>
          </a:solidFill>
          <a:ln w="12700">
            <a:solidFill>
              <a:srgbClr val="A51C30"/>
            </a:solidFill>
          </a:ln>
        </p:spPr>
        <p:txBody>
          <a:bodyPr wrap="square" rtlCol="0" anchor="t">
            <a:normAutofit/>
          </a:bodyPr>
          <a:lstStyle/>
          <a:p>
            <a:pPr algn="ctr">
              <a:buNone/>
            </a:pPr>
            <a:r>
              <a:rPr lang="en-US" sz="1700" b="1">
                <a:solidFill>
                  <a:srgbClr val="FFFFFF"/>
                </a:solidFill>
                <a:latin typeface="Garamond" pitchFamily="18" charset="0"/>
              </a:rPr>
              <a:t>Stage 2 — Fine-tune</a:t>
            </a:r>
          </a:p>
        </p:txBody>
      </p:sp>
      <p:sp>
        <p:nvSpPr>
          <p:cNvPr id="155" name="Text 155"/>
          <p:cNvSpPr txBox="1"/>
          <p:nvPr/>
        </p:nvSpPr>
        <p:spPr>
          <a:xfrm>
            <a:off x="5086800" y="1900000"/>
            <a:ext cx="3340000" cy="1600000"/>
          </a:xfrm>
          <a:prstGeom prst="rect">
            <a:avLst/>
          </a:prstGeom>
          <a:noFill/>
        </p:spPr>
        <p:txBody>
          <a:bodyPr wrap="square" lIns="0" rIns="0" rtlCol="0" anchor="t">
            <a:normAutofit/>
          </a:bodyPr>
          <a:lstStyle/>
          <a:p>
            <a:pPr marL="228600" indent="-228600">
              <a:spcBef>
                <a:spcPts val="500"/>
              </a:spcBef>
              <a:buClr>
                <a:srgbClr val="F2DCDB"/>
              </a:buClr>
              <a:buFont typeface="Arial"/>
              <a:buChar char="–"/>
            </a:pPr>
            <a:r>
              <a:rPr lang="en-US" sz="1600" dirty="0">
                <a:solidFill>
                  <a:srgbClr val="FFFFFF"/>
                </a:solidFill>
                <a:latin typeface="Garamond" pitchFamily="18" charset="0"/>
              </a:rPr>
              <a:t>Unfreeze the final 20 non-</a:t>
            </a:r>
            <a:r>
              <a:rPr lang="en-US" sz="1600" dirty="0" err="1">
                <a:solidFill>
                  <a:srgbClr val="FFFFFF"/>
                </a:solidFill>
                <a:latin typeface="Garamond" pitchFamily="18" charset="0"/>
              </a:rPr>
              <a:t>BatchNorm</a:t>
            </a:r>
            <a:r>
              <a:rPr lang="en-US" sz="1600" dirty="0">
                <a:solidFill>
                  <a:srgbClr val="FFFFFF"/>
                </a:solidFill>
                <a:latin typeface="Garamond" pitchFamily="18" charset="0"/>
              </a:rPr>
              <a:t> layers.</a:t>
            </a:r>
          </a:p>
          <a:p>
            <a:pPr marL="228600" indent="-228600">
              <a:spcBef>
                <a:spcPts val="500"/>
              </a:spcBef>
              <a:buClr>
                <a:srgbClr val="F2DCDB"/>
              </a:buClr>
              <a:buFont typeface="Arial"/>
              <a:buChar char="–"/>
            </a:pPr>
            <a:r>
              <a:rPr lang="en-US" sz="1600" dirty="0">
                <a:solidFill>
                  <a:srgbClr val="FFFFFF"/>
                </a:solidFill>
                <a:latin typeface="Garamond" pitchFamily="18" charset="0"/>
              </a:rPr>
              <a:t>Continue with a lower learning rate (1 × 10⁻⁵).</a:t>
            </a:r>
          </a:p>
        </p:txBody>
      </p:sp>
      <p:sp>
        <p:nvSpPr>
          <p:cNvPr id="156" name="Arrow"/>
          <p:cNvSpPr/>
          <p:nvPr/>
        </p:nvSpPr>
        <p:spPr>
          <a:xfrm>
            <a:off x="4357200" y="2200000"/>
            <a:ext cx="300000" cy="220000"/>
          </a:xfrm>
          <a:prstGeom prst="rightArrow">
            <a:avLst/>
          </a:prstGeom>
          <a:solidFill>
            <a:srgbClr val="808080"/>
          </a:solidFill>
          <a:ln>
            <a:noFill/>
          </a:ln>
        </p:spPr>
        <p:txBody>
          <a:bodyPr wrap="square" rtlCol="0" anchor="ctr">
            <a:normAutofit fontScale="25000" lnSpcReduction="20000"/>
          </a:bodyPr>
          <a:lstStyle/>
          <a:p>
            <a:pPr>
              <a:buNone/>
            </a:pPr>
            <a:endParaRPr lang="en-US"/>
          </a:p>
        </p:txBody>
      </p:sp>
      <p:sp>
        <p:nvSpPr>
          <p:cNvPr id="157" name="Shape 157"/>
          <p:cNvSpPr/>
          <p:nvPr/>
        </p:nvSpPr>
        <p:spPr>
          <a:xfrm>
            <a:off x="457200" y="3950000"/>
            <a:ext cx="2600000" cy="760000"/>
          </a:xfrm>
          <a:prstGeom prst="roundRect">
            <a:avLst/>
          </a:prstGeom>
          <a:solidFill>
            <a:srgbClr val="EBF1DE"/>
          </a:solidFill>
          <a:ln w="12700">
            <a:solidFill>
              <a:srgbClr val="4F6228"/>
            </a:solidFill>
          </a:ln>
        </p:spPr>
        <p:txBody>
          <a:bodyPr wrap="square" rtlCol="0" anchor="ctr">
            <a:normAutofit/>
          </a:bodyPr>
          <a:lstStyle/>
          <a:p>
            <a:pPr algn="ctr">
              <a:buNone/>
            </a:pPr>
            <a:r>
              <a:rPr lang="en-US" sz="1450" b="1">
                <a:solidFill>
                  <a:srgbClr val="1F497D"/>
                </a:solidFill>
                <a:latin typeface="Garamond" pitchFamily="18" charset="0"/>
              </a:rPr>
              <a:t>AdamW optimizer</a:t>
            </a:r>
          </a:p>
        </p:txBody>
      </p:sp>
      <p:sp>
        <p:nvSpPr>
          <p:cNvPr id="158" name="Shape 158"/>
          <p:cNvSpPr/>
          <p:nvPr/>
        </p:nvSpPr>
        <p:spPr>
          <a:xfrm>
            <a:off x="3272000" y="3950000"/>
            <a:ext cx="2600000" cy="760000"/>
          </a:xfrm>
          <a:prstGeom prst="roundRect">
            <a:avLst/>
          </a:prstGeom>
          <a:solidFill>
            <a:srgbClr val="EBF1DE"/>
          </a:solidFill>
          <a:ln w="12700">
            <a:solidFill>
              <a:srgbClr val="4F6228"/>
            </a:solidFill>
          </a:ln>
        </p:spPr>
        <p:txBody>
          <a:bodyPr wrap="square" rtlCol="0" anchor="ctr">
            <a:normAutofit/>
          </a:bodyPr>
          <a:lstStyle/>
          <a:p>
            <a:pPr algn="ctr">
              <a:buNone/>
            </a:pPr>
            <a:r>
              <a:rPr lang="en-US" sz="1450" b="1">
                <a:solidFill>
                  <a:srgbClr val="1F497D"/>
                </a:solidFill>
                <a:latin typeface="Garamond" pitchFamily="18" charset="0"/>
              </a:rPr>
              <a:t>Early stopping on validation loss</a:t>
            </a:r>
          </a:p>
        </p:txBody>
      </p:sp>
      <p:sp>
        <p:nvSpPr>
          <p:cNvPr id="159" name="Shape 159"/>
          <p:cNvSpPr/>
          <p:nvPr/>
        </p:nvSpPr>
        <p:spPr>
          <a:xfrm>
            <a:off x="6086800" y="3950000"/>
            <a:ext cx="2600000" cy="760000"/>
          </a:xfrm>
          <a:prstGeom prst="roundRect">
            <a:avLst/>
          </a:prstGeom>
          <a:solidFill>
            <a:srgbClr val="EBF1DE"/>
          </a:solidFill>
          <a:ln w="12700">
            <a:solidFill>
              <a:srgbClr val="4F6228"/>
            </a:solidFill>
          </a:ln>
        </p:spPr>
        <p:txBody>
          <a:bodyPr wrap="square" rtlCol="0" anchor="ctr">
            <a:normAutofit/>
          </a:bodyPr>
          <a:lstStyle/>
          <a:p>
            <a:pPr algn="ctr">
              <a:buNone/>
            </a:pPr>
            <a:r>
              <a:rPr lang="en-US" sz="1450" b="1">
                <a:solidFill>
                  <a:srgbClr val="1F497D"/>
                </a:solidFill>
                <a:latin typeface="Garamond" pitchFamily="18" charset="0"/>
              </a:rPr>
              <a:t>Class weights for imbalance</a:t>
            </a:r>
          </a:p>
        </p:txBody>
      </p:sp>
      <p:sp>
        <p:nvSpPr>
          <p:cNvPr id="160" name="Text 160"/>
          <p:cNvSpPr txBox="1"/>
          <p:nvPr/>
        </p:nvSpPr>
        <p:spPr>
          <a:xfrm>
            <a:off x="457200" y="4850000"/>
            <a:ext cx="8229600" cy="300000"/>
          </a:xfrm>
          <a:prstGeom prst="rect">
            <a:avLst/>
          </a:prstGeom>
          <a:noFill/>
        </p:spPr>
        <p:txBody>
          <a:bodyPr wrap="square" lIns="0" rIns="0" rtlCol="0" anchor="t">
            <a:norm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en-US" sz="1350" i="1">
                <a:solidFill>
                  <a:srgbClr val="595959"/>
                </a:solidFill>
                <a:latin typeface="Garamond" pitchFamily="18" charset="0"/>
              </a:rPr>
              <a:t>Two-stage transfer learning with regularization and imbalance handling.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buNone/>
            </a:pPr>
            <a:r>
              <a:rPr lang="en-US" sz="1200">
                <a:solidFill>
                  <a:srgbClr val="898989"/>
                </a:solidFill>
                <a:latin typeface="Garamond" pitchFamily="18" charset="0"/>
              </a:rPr>
              <a:t>@Martin Mayer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73807-B068-4863-956B-F1B336131749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1642"/>
    </mc:Choice>
    <mc:Fallback>
      <p:transition spd="slow" advTm="51642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>
                <a:latin typeface="Garamond" pitchFamily="18" charset="0"/>
              </a:rPr>
              <a:t>Evaluation design</a:t>
            </a:r>
          </a:p>
        </p:txBody>
      </p:sp>
      <p:sp>
        <p:nvSpPr>
          <p:cNvPr id="161" name="Shape 161"/>
          <p:cNvSpPr/>
          <p:nvPr/>
        </p:nvSpPr>
        <p:spPr>
          <a:xfrm>
            <a:off x="304800" y="1230000"/>
            <a:ext cx="2202400" cy="470000"/>
          </a:xfrm>
          <a:prstGeom prst="rect">
            <a:avLst/>
          </a:prstGeom>
          <a:solidFill>
            <a:srgbClr val="DCE6F1"/>
          </a:solidFill>
          <a:ln w="12700">
            <a:solidFill>
              <a:srgbClr val="4F81BD"/>
            </a:solidFill>
          </a:ln>
        </p:spPr>
        <p:txBody>
          <a:bodyPr wrap="square" rtlCol="0" anchor="ctr">
            <a:normAutofit fontScale="92500"/>
          </a:bodyPr>
          <a:lstStyle/>
          <a:p>
            <a:pPr algn="ctr">
              <a:buNone/>
            </a:pPr>
            <a:r>
              <a:rPr lang="en-US" sz="1400" b="1" dirty="0">
                <a:solidFill>
                  <a:srgbClr val="1F497D"/>
                </a:solidFill>
                <a:latin typeface="Garamond" pitchFamily="18" charset="0"/>
              </a:rPr>
              <a:t>Image 1  →  prob. vector p1</a:t>
            </a:r>
          </a:p>
        </p:txBody>
      </p:sp>
      <p:sp>
        <p:nvSpPr>
          <p:cNvPr id="162" name="Shape 162"/>
          <p:cNvSpPr/>
          <p:nvPr/>
        </p:nvSpPr>
        <p:spPr>
          <a:xfrm>
            <a:off x="304800" y="1790000"/>
            <a:ext cx="2202400" cy="470000"/>
          </a:xfrm>
          <a:prstGeom prst="rect">
            <a:avLst/>
          </a:prstGeom>
          <a:solidFill>
            <a:srgbClr val="DCE6F1"/>
          </a:solidFill>
          <a:ln w="12700">
            <a:solidFill>
              <a:srgbClr val="4F81BD"/>
            </a:solidFill>
          </a:ln>
        </p:spPr>
        <p:txBody>
          <a:bodyPr wrap="square" rtlCol="0" anchor="ctr">
            <a:normAutofit fontScale="92500"/>
          </a:bodyPr>
          <a:lstStyle/>
          <a:p>
            <a:pPr algn="ctr">
              <a:buNone/>
            </a:pPr>
            <a:r>
              <a:rPr lang="en-US" sz="1400" b="1" dirty="0">
                <a:solidFill>
                  <a:srgbClr val="1F497D"/>
                </a:solidFill>
                <a:latin typeface="Garamond" pitchFamily="18" charset="0"/>
              </a:rPr>
              <a:t>Image 2  → prob. vector p2</a:t>
            </a:r>
          </a:p>
        </p:txBody>
      </p:sp>
      <p:sp>
        <p:nvSpPr>
          <p:cNvPr id="163" name="Shape 163"/>
          <p:cNvSpPr/>
          <p:nvPr/>
        </p:nvSpPr>
        <p:spPr>
          <a:xfrm>
            <a:off x="304800" y="2350000"/>
            <a:ext cx="2202400" cy="470000"/>
          </a:xfrm>
          <a:prstGeom prst="rect">
            <a:avLst/>
          </a:prstGeom>
          <a:solidFill>
            <a:srgbClr val="DCE6F1"/>
          </a:solidFill>
          <a:ln w="12700">
            <a:solidFill>
              <a:srgbClr val="4F81BD"/>
            </a:solidFill>
          </a:ln>
        </p:spPr>
        <p:txBody>
          <a:bodyPr wrap="square" rtlCol="0" anchor="ctr">
            <a:normAutofit fontScale="92500"/>
          </a:bodyPr>
          <a:lstStyle/>
          <a:p>
            <a:pPr algn="ctr">
              <a:buNone/>
            </a:pPr>
            <a:r>
              <a:rPr lang="en-US" sz="1400" b="1" dirty="0">
                <a:solidFill>
                  <a:srgbClr val="1F497D"/>
                </a:solidFill>
                <a:latin typeface="Garamond" pitchFamily="18" charset="0"/>
              </a:rPr>
              <a:t>Image 3  → prob. vector p3</a:t>
            </a:r>
          </a:p>
        </p:txBody>
      </p:sp>
      <p:sp>
        <p:nvSpPr>
          <p:cNvPr id="164" name="Arrow"/>
          <p:cNvSpPr/>
          <p:nvPr/>
        </p:nvSpPr>
        <p:spPr>
          <a:xfrm>
            <a:off x="2557200" y="1830000"/>
            <a:ext cx="360000" cy="200000"/>
          </a:xfrm>
          <a:prstGeom prst="rightArrow">
            <a:avLst/>
          </a:prstGeom>
          <a:solidFill>
            <a:srgbClr val="808080"/>
          </a:solidFill>
          <a:ln>
            <a:noFill/>
          </a:ln>
        </p:spPr>
        <p:txBody>
          <a:bodyPr wrap="square" rtlCol="0" anchor="ctr">
            <a:normAutofit fontScale="25000" lnSpcReduction="20000"/>
          </a:bodyPr>
          <a:lstStyle/>
          <a:p>
            <a:pPr>
              <a:buNone/>
            </a:pPr>
            <a:endParaRPr lang="en-US"/>
          </a:p>
        </p:txBody>
      </p:sp>
      <p:sp>
        <p:nvSpPr>
          <p:cNvPr id="165" name="Shape 165"/>
          <p:cNvSpPr/>
          <p:nvPr/>
        </p:nvSpPr>
        <p:spPr>
          <a:xfrm>
            <a:off x="2967200" y="1560000"/>
            <a:ext cx="2550000" cy="760000"/>
          </a:xfrm>
          <a:prstGeom prst="rect">
            <a:avLst/>
          </a:prstGeom>
          <a:solidFill>
            <a:srgbClr val="1F497D"/>
          </a:solidFill>
          <a:ln w="12700">
            <a:solidFill>
              <a:srgbClr val="1F497D"/>
            </a:solidFill>
          </a:ln>
        </p:spPr>
        <p:txBody>
          <a:bodyPr wrap="square" rtlCol="0" anchor="ctr">
            <a:normAutofit/>
          </a:bodyPr>
          <a:lstStyle/>
          <a:p>
            <a:pPr algn="ctr">
              <a:buNone/>
            </a:pPr>
            <a:r>
              <a:rPr lang="en-US" sz="1500" b="1">
                <a:solidFill>
                  <a:srgbClr val="FFFFFF"/>
                </a:solidFill>
                <a:latin typeface="Garamond" pitchFamily="18" charset="0"/>
              </a:rPr>
              <a:t>Average image</a:t>
            </a:r>
          </a:p>
          <a:p>
            <a:pPr algn="ctr">
              <a:spcBef>
                <a:spcPts val="100"/>
              </a:spcBef>
              <a:buNone/>
            </a:pPr>
            <a:r>
              <a:rPr lang="en-US" sz="1500" b="1">
                <a:solidFill>
                  <a:srgbClr val="FFFFFF"/>
                </a:solidFill>
                <a:latin typeface="Garamond" pitchFamily="18" charset="0"/>
              </a:rPr>
              <a:t>probabilities</a:t>
            </a:r>
          </a:p>
        </p:txBody>
      </p:sp>
      <p:sp>
        <p:nvSpPr>
          <p:cNvPr id="166" name="Arrow"/>
          <p:cNvSpPr/>
          <p:nvPr/>
        </p:nvSpPr>
        <p:spPr>
          <a:xfrm>
            <a:off x="5567200" y="1830000"/>
            <a:ext cx="360000" cy="200000"/>
          </a:xfrm>
          <a:prstGeom prst="rightArrow">
            <a:avLst/>
          </a:prstGeom>
          <a:solidFill>
            <a:srgbClr val="808080"/>
          </a:solidFill>
          <a:ln>
            <a:noFill/>
          </a:ln>
        </p:spPr>
        <p:txBody>
          <a:bodyPr wrap="square" rtlCol="0" anchor="ctr">
            <a:normAutofit fontScale="25000" lnSpcReduction="20000"/>
          </a:bodyPr>
          <a:lstStyle/>
          <a:p>
            <a:pPr>
              <a:buNone/>
            </a:pPr>
            <a:endParaRPr lang="en-US"/>
          </a:p>
        </p:txBody>
      </p:sp>
      <p:sp>
        <p:nvSpPr>
          <p:cNvPr id="167" name="Shape 167"/>
          <p:cNvSpPr/>
          <p:nvPr/>
        </p:nvSpPr>
        <p:spPr>
          <a:xfrm>
            <a:off x="5977200" y="1560000"/>
            <a:ext cx="2709600" cy="760000"/>
          </a:xfrm>
          <a:prstGeom prst="rect">
            <a:avLst/>
          </a:prstGeom>
          <a:solidFill>
            <a:srgbClr val="A51C30"/>
          </a:solidFill>
          <a:ln w="12700">
            <a:solidFill>
              <a:srgbClr val="A51C30"/>
            </a:solidFill>
          </a:ln>
          <a:effectLst>
            <a:outerShdw blurRad="40000" dist="20000" dir="5400000" rotWithShape="0">
              <a:srgbClr val="000000">
                <a:alpha val="18000"/>
              </a:srgbClr>
            </a:outerShdw>
          </a:effectLst>
        </p:spPr>
        <p:txBody>
          <a:bodyPr wrap="square" rtlCol="0" anchor="ctr">
            <a:normAutofit/>
          </a:bodyPr>
          <a:lstStyle/>
          <a:p>
            <a:pPr algn="ctr">
              <a:buNone/>
            </a:pPr>
            <a:r>
              <a:rPr lang="en-US" sz="1500" b="1">
                <a:solidFill>
                  <a:srgbClr val="FFFFFF"/>
                </a:solidFill>
                <a:latin typeface="Garamond" pitchFamily="18" charset="0"/>
              </a:rPr>
              <a:t>Specimen</a:t>
            </a:r>
          </a:p>
          <a:p>
            <a:pPr algn="ctr">
              <a:spcBef>
                <a:spcPts val="100"/>
              </a:spcBef>
              <a:buNone/>
            </a:pPr>
            <a:r>
              <a:rPr lang="en-US" sz="1500" b="1">
                <a:solidFill>
                  <a:srgbClr val="FFFFFF"/>
                </a:solidFill>
                <a:latin typeface="Garamond" pitchFamily="18" charset="0"/>
              </a:rPr>
              <a:t>prediction</a:t>
            </a:r>
          </a:p>
        </p:txBody>
      </p:sp>
      <p:sp>
        <p:nvSpPr>
          <p:cNvPr id="168" name="Text 168"/>
          <p:cNvSpPr txBox="1"/>
          <p:nvPr/>
        </p:nvSpPr>
        <p:spPr>
          <a:xfrm>
            <a:off x="457200" y="3350000"/>
            <a:ext cx="8229600" cy="2100000"/>
          </a:xfrm>
          <a:prstGeom prst="rect">
            <a:avLst/>
          </a:prstGeom>
          <a:noFill/>
        </p:spPr>
        <p:txBody>
          <a:bodyPr wrap="square" lIns="0" rIns="0" rtlCol="0" anchor="t">
            <a:normAutofit/>
          </a:bodyPr>
          <a:lstStyle/>
          <a:p>
            <a:pPr marL="228600" indent="-228600">
              <a:spcBef>
                <a:spcPts val="500"/>
              </a:spcBef>
              <a:buClr>
                <a:srgbClr val="A51C30"/>
              </a:buClr>
              <a:buFont typeface="Arial"/>
              <a:buChar char="–"/>
            </a:pPr>
            <a:r>
              <a:rPr lang="en-US" sz="1650" dirty="0">
                <a:solidFill>
                  <a:srgbClr val="262626"/>
                </a:solidFill>
                <a:latin typeface="Garamond" pitchFamily="18" charset="0"/>
              </a:rPr>
              <a:t>Image-level: each image is scored independently.</a:t>
            </a:r>
          </a:p>
          <a:p>
            <a:pPr marL="228600" indent="-228600">
              <a:spcBef>
                <a:spcPts val="500"/>
              </a:spcBef>
              <a:buClr>
                <a:srgbClr val="A51C30"/>
              </a:buClr>
              <a:buFont typeface="Arial"/>
              <a:buChar char="–"/>
            </a:pPr>
            <a:r>
              <a:rPr lang="en-US" sz="1650" dirty="0">
                <a:solidFill>
                  <a:srgbClr val="262626"/>
                </a:solidFill>
                <a:latin typeface="Garamond" pitchFamily="18" charset="0"/>
              </a:rPr>
              <a:t>Specimen-level: average the image probabilities across the specimen, then predict.</a:t>
            </a:r>
          </a:p>
          <a:p>
            <a:pPr marL="228600" indent="-228600">
              <a:spcBef>
                <a:spcPts val="500"/>
              </a:spcBef>
              <a:buClr>
                <a:srgbClr val="A51C30"/>
              </a:buClr>
              <a:buFont typeface="Arial"/>
              <a:buChar char="–"/>
            </a:pPr>
            <a:r>
              <a:rPr lang="en-US" sz="1650" dirty="0">
                <a:solidFill>
                  <a:srgbClr val="262626"/>
                </a:solidFill>
                <a:latin typeface="Garamond" pitchFamily="18" charset="0"/>
              </a:rPr>
              <a:t>Specimen-level results are the primary evaluation results.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buNone/>
            </a:pPr>
            <a:r>
              <a:rPr lang="en-US" sz="1200">
                <a:solidFill>
                  <a:srgbClr val="898989"/>
                </a:solidFill>
                <a:latin typeface="Garamond" pitchFamily="18" charset="0"/>
              </a:rPr>
              <a:t>@Martin Mayer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73807-B068-4863-956B-F1B336131749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9782"/>
    </mc:Choice>
    <mc:Fallback>
      <p:transition spd="slow" advTm="29782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>
                <a:latin typeface="Garamond" pitchFamily="18" charset="0"/>
              </a:rPr>
              <a:t>Main results</a:t>
            </a:r>
          </a:p>
        </p:txBody>
      </p:sp>
      <p:sp>
        <p:nvSpPr>
          <p:cNvPr id="169" name="Text 169"/>
          <p:cNvSpPr txBox="1"/>
          <p:nvPr/>
        </p:nvSpPr>
        <p:spPr>
          <a:xfrm>
            <a:off x="457200" y="1120000"/>
            <a:ext cx="8229600" cy="340000"/>
          </a:xfrm>
          <a:prstGeom prst="rect">
            <a:avLst/>
          </a:prstGeom>
          <a:noFill/>
        </p:spPr>
        <p:txBody>
          <a:bodyPr wrap="square" lIns="0" rIns="0" rtlCol="0" anchor="t">
            <a:normAutofit/>
          </a:bodyPr>
          <a:lstStyle/>
          <a:p>
            <a:pPr>
              <a:spcBef>
                <a:spcPts val="0"/>
              </a:spcBef>
              <a:buNone/>
            </a:pPr>
            <a:r>
              <a:rPr lang="en-US" sz="1600" i="1">
                <a:solidFill>
                  <a:srgbClr val="595959"/>
                </a:solidFill>
                <a:latin typeface="Garamond" pitchFamily="18" charset="0"/>
              </a:rPr>
              <a:t>17-genus classification on the held-out test set</a:t>
            </a:r>
          </a:p>
        </p:txBody>
      </p:sp>
      <p:sp>
        <p:nvSpPr>
          <p:cNvPr id="170" name="Shape 170"/>
          <p:cNvSpPr/>
          <p:nvPr/>
        </p:nvSpPr>
        <p:spPr>
          <a:xfrm>
            <a:off x="457200" y="1600000"/>
            <a:ext cx="1900000" cy="1750000"/>
          </a:xfrm>
          <a:prstGeom prst="roundRect">
            <a:avLst/>
          </a:prstGeom>
          <a:solidFill>
            <a:srgbClr val="A51C30"/>
          </a:solidFill>
          <a:ln w="12700">
            <a:solidFill>
              <a:srgbClr val="A51C30"/>
            </a:solidFill>
          </a:ln>
          <a:effectLst>
            <a:outerShdw blurRad="40000" dist="20000" dir="5400000" rotWithShape="0">
              <a:srgbClr val="000000">
                <a:alpha val="18000"/>
              </a:srgbClr>
            </a:outerShdw>
          </a:effectLst>
        </p:spPr>
        <p:txBody>
          <a:bodyPr wrap="square" rtlCol="0" anchor="ctr">
            <a:normAutofit/>
          </a:bodyPr>
          <a:lstStyle/>
          <a:p>
            <a:pPr algn="ctr">
              <a:buNone/>
            </a:pPr>
            <a:r>
              <a:rPr lang="en-US" sz="3200" b="1" dirty="0">
                <a:solidFill>
                  <a:srgbClr val="FFFFFF"/>
                </a:solidFill>
                <a:latin typeface="Garamond" pitchFamily="18" charset="0"/>
              </a:rPr>
              <a:t>0.884</a:t>
            </a:r>
          </a:p>
          <a:p>
            <a:pPr algn="ctr">
              <a:spcBef>
                <a:spcPts val="300"/>
              </a:spcBef>
              <a:buNone/>
            </a:pPr>
            <a:r>
              <a:rPr lang="en-US" sz="1250" dirty="0">
                <a:solidFill>
                  <a:srgbClr val="FFFFFF"/>
                </a:solidFill>
                <a:latin typeface="Garamond" pitchFamily="18" charset="0"/>
              </a:rPr>
              <a:t>Specimen-level accuracy</a:t>
            </a:r>
          </a:p>
        </p:txBody>
      </p:sp>
      <p:sp>
        <p:nvSpPr>
          <p:cNvPr id="171" name="Shape 171"/>
          <p:cNvSpPr/>
          <p:nvPr/>
        </p:nvSpPr>
        <p:spPr>
          <a:xfrm>
            <a:off x="2567066" y="1600000"/>
            <a:ext cx="1900000" cy="1750000"/>
          </a:xfrm>
          <a:prstGeom prst="roundRect">
            <a:avLst/>
          </a:prstGeom>
          <a:solidFill>
            <a:srgbClr val="A51C30"/>
          </a:solidFill>
          <a:ln w="12700">
            <a:solidFill>
              <a:srgbClr val="A51C30"/>
            </a:solidFill>
          </a:ln>
          <a:effectLst>
            <a:outerShdw blurRad="40000" dist="20000" dir="5400000" rotWithShape="0">
              <a:srgbClr val="000000">
                <a:alpha val="18000"/>
              </a:srgbClr>
            </a:outerShdw>
          </a:effectLst>
        </p:spPr>
        <p:txBody>
          <a:bodyPr wrap="square" rtlCol="0" anchor="ctr">
            <a:normAutofit/>
          </a:bodyPr>
          <a:lstStyle/>
          <a:p>
            <a:pPr algn="ctr">
              <a:buNone/>
            </a:pPr>
            <a:r>
              <a:rPr lang="en-US" sz="3200" b="1" dirty="0">
                <a:solidFill>
                  <a:srgbClr val="FFFFFF"/>
                </a:solidFill>
                <a:latin typeface="Garamond" pitchFamily="18" charset="0"/>
              </a:rPr>
              <a:t>0.864</a:t>
            </a:r>
          </a:p>
          <a:p>
            <a:pPr algn="ctr">
              <a:spcBef>
                <a:spcPts val="300"/>
              </a:spcBef>
              <a:buNone/>
            </a:pPr>
            <a:r>
              <a:rPr lang="en-US" sz="1250" dirty="0">
                <a:solidFill>
                  <a:srgbClr val="FFFFFF"/>
                </a:solidFill>
                <a:latin typeface="Garamond" pitchFamily="18" charset="0"/>
              </a:rPr>
              <a:t>Specimen-level </a:t>
            </a:r>
          </a:p>
          <a:p>
            <a:pPr algn="ctr">
              <a:spcBef>
                <a:spcPts val="300"/>
              </a:spcBef>
              <a:buNone/>
            </a:pPr>
            <a:r>
              <a:rPr lang="en-US" sz="1250" dirty="0">
                <a:solidFill>
                  <a:srgbClr val="FFFFFF"/>
                </a:solidFill>
                <a:latin typeface="Garamond" pitchFamily="18" charset="0"/>
              </a:rPr>
              <a:t>macro F1</a:t>
            </a:r>
          </a:p>
        </p:txBody>
      </p:sp>
      <p:sp>
        <p:nvSpPr>
          <p:cNvPr id="172" name="Shape 172"/>
          <p:cNvSpPr/>
          <p:nvPr/>
        </p:nvSpPr>
        <p:spPr>
          <a:xfrm>
            <a:off x="4676932" y="1600000"/>
            <a:ext cx="1900000" cy="1750000"/>
          </a:xfrm>
          <a:prstGeom prst="roundRect">
            <a:avLst/>
          </a:prstGeom>
          <a:solidFill>
            <a:srgbClr val="1F497D"/>
          </a:solidFill>
          <a:ln w="12700">
            <a:solidFill>
              <a:srgbClr val="1F497D"/>
            </a:solidFill>
          </a:ln>
        </p:spPr>
        <p:txBody>
          <a:bodyPr wrap="square" rtlCol="0" anchor="ctr">
            <a:normAutofit/>
          </a:bodyPr>
          <a:lstStyle/>
          <a:p>
            <a:pPr algn="ctr">
              <a:buNone/>
            </a:pPr>
            <a:r>
              <a:rPr lang="en-US" sz="3200" b="1">
                <a:solidFill>
                  <a:srgbClr val="FFFFFF"/>
                </a:solidFill>
                <a:latin typeface="Garamond" pitchFamily="18" charset="0"/>
              </a:rPr>
              <a:t>0.873</a:t>
            </a:r>
          </a:p>
          <a:p>
            <a:pPr algn="ctr">
              <a:spcBef>
                <a:spcPts val="300"/>
              </a:spcBef>
              <a:buNone/>
            </a:pPr>
            <a:r>
              <a:rPr lang="en-US" sz="1250">
                <a:solidFill>
                  <a:srgbClr val="FFFFFF"/>
                </a:solidFill>
                <a:latin typeface="Garamond" pitchFamily="18" charset="0"/>
              </a:rPr>
              <a:t>Image-level accuracy</a:t>
            </a:r>
          </a:p>
        </p:txBody>
      </p:sp>
      <p:sp>
        <p:nvSpPr>
          <p:cNvPr id="173" name="Shape 173"/>
          <p:cNvSpPr/>
          <p:nvPr/>
        </p:nvSpPr>
        <p:spPr>
          <a:xfrm>
            <a:off x="6786798" y="1600000"/>
            <a:ext cx="1900000" cy="1750000"/>
          </a:xfrm>
          <a:prstGeom prst="roundRect">
            <a:avLst/>
          </a:prstGeom>
          <a:solidFill>
            <a:srgbClr val="1F497D"/>
          </a:solidFill>
          <a:ln w="12700">
            <a:solidFill>
              <a:srgbClr val="1F497D"/>
            </a:solidFill>
          </a:ln>
        </p:spPr>
        <p:txBody>
          <a:bodyPr wrap="square" rtlCol="0" anchor="ctr">
            <a:normAutofit/>
          </a:bodyPr>
          <a:lstStyle/>
          <a:p>
            <a:pPr algn="ctr">
              <a:buNone/>
            </a:pPr>
            <a:r>
              <a:rPr lang="en-US" sz="3200" b="1">
                <a:solidFill>
                  <a:srgbClr val="FFFFFF"/>
                </a:solidFill>
                <a:latin typeface="Garamond" pitchFamily="18" charset="0"/>
              </a:rPr>
              <a:t>0.839</a:t>
            </a:r>
          </a:p>
          <a:p>
            <a:pPr algn="ctr">
              <a:spcBef>
                <a:spcPts val="300"/>
              </a:spcBef>
              <a:buNone/>
            </a:pPr>
            <a:r>
              <a:rPr lang="en-US" sz="1250">
                <a:solidFill>
                  <a:srgbClr val="FFFFFF"/>
                </a:solidFill>
                <a:latin typeface="Garamond" pitchFamily="18" charset="0"/>
              </a:rPr>
              <a:t>Image-level macro F1</a:t>
            </a:r>
          </a:p>
        </p:txBody>
      </p:sp>
      <p:sp>
        <p:nvSpPr>
          <p:cNvPr id="174" name="Text 174"/>
          <p:cNvSpPr txBox="1"/>
          <p:nvPr/>
        </p:nvSpPr>
        <p:spPr>
          <a:xfrm>
            <a:off x="457200" y="3600000"/>
            <a:ext cx="8229600" cy="700000"/>
          </a:xfrm>
          <a:prstGeom prst="rect">
            <a:avLst/>
          </a:prstGeom>
          <a:noFill/>
        </p:spPr>
        <p:txBody>
          <a:bodyPr wrap="square" lIns="0" rIns="0" rtlCol="0" anchor="t">
            <a:normAutofit/>
          </a:bodyPr>
          <a:lstStyle/>
          <a:p>
            <a:pPr marL="228600" indent="-228600">
              <a:spcBef>
                <a:spcPts val="0"/>
              </a:spcBef>
              <a:buClr>
                <a:srgbClr val="A51C30"/>
              </a:buClr>
              <a:buFont typeface="Arial"/>
              <a:buChar char="–"/>
            </a:pPr>
            <a:r>
              <a:rPr lang="en-US" sz="1600" dirty="0">
                <a:solidFill>
                  <a:srgbClr val="262626"/>
                </a:solidFill>
                <a:latin typeface="Garamond" pitchFamily="18" charset="0"/>
              </a:rPr>
              <a:t>Specimen-level metrics  (aggregated across each specimen's images) are the project's primary results.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buNone/>
            </a:pPr>
            <a:r>
              <a:rPr lang="en-US" sz="1200">
                <a:solidFill>
                  <a:srgbClr val="898989"/>
                </a:solidFill>
                <a:latin typeface="Garamond" pitchFamily="18" charset="0"/>
              </a:rPr>
              <a:t>@Martin Mayer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73807-B068-4863-956B-F1B336131749}" type="slidenum">
              <a:rPr lang="en-US"/>
              <a:t>11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5DD7359-4A30-5654-BA3E-5CDF3C1BB6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3366" y="4054877"/>
            <a:ext cx="5867400" cy="231334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3854"/>
    </mc:Choice>
    <mc:Fallback>
      <p:transition spd="slow" advTm="43854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>
                <a:latin typeface="Garamond" pitchFamily="18" charset="0"/>
              </a:rPr>
              <a:t>Error analysis</a:t>
            </a:r>
          </a:p>
        </p:txBody>
      </p:sp>
      <p:sp>
        <p:nvSpPr>
          <p:cNvPr id="175" name="Text 175"/>
          <p:cNvSpPr txBox="1"/>
          <p:nvPr/>
        </p:nvSpPr>
        <p:spPr>
          <a:xfrm>
            <a:off x="457200" y="1130000"/>
            <a:ext cx="4250000" cy="3900000"/>
          </a:xfrm>
          <a:prstGeom prst="rect">
            <a:avLst/>
          </a:prstGeom>
          <a:noFill/>
        </p:spPr>
        <p:txBody>
          <a:bodyPr wrap="square" lIns="0" rIns="0" rtlCol="0" anchor="t">
            <a:normAutofit/>
          </a:bodyPr>
          <a:lstStyle/>
          <a:p>
            <a:pPr>
              <a:spcBef>
                <a:spcPts val="0"/>
              </a:spcBef>
              <a:buNone/>
            </a:pPr>
            <a:r>
              <a:rPr lang="en-US" sz="1650" b="1" dirty="0">
                <a:solidFill>
                  <a:srgbClr val="4F6228"/>
                </a:solidFill>
                <a:latin typeface="Garamond" pitchFamily="18" charset="0"/>
              </a:rPr>
              <a:t>Where it works</a:t>
            </a:r>
          </a:p>
          <a:p>
            <a:pPr marL="228600" indent="-228600">
              <a:spcBef>
                <a:spcPts val="350"/>
              </a:spcBef>
              <a:buClr>
                <a:srgbClr val="4F6228"/>
              </a:buClr>
              <a:buFont typeface="Arial"/>
              <a:buChar char="–"/>
            </a:pPr>
            <a:r>
              <a:rPr lang="en-US" sz="1550" dirty="0">
                <a:solidFill>
                  <a:srgbClr val="262626"/>
                </a:solidFill>
                <a:latin typeface="Garamond" pitchFamily="18" charset="0"/>
              </a:rPr>
              <a:t>Genera with distinctive anatomy are classified reliably.</a:t>
            </a:r>
          </a:p>
          <a:p>
            <a:pPr marL="228600" indent="-228600">
              <a:spcBef>
                <a:spcPts val="350"/>
              </a:spcBef>
              <a:buClr>
                <a:srgbClr val="4F6228"/>
              </a:buClr>
              <a:buFont typeface="Arial"/>
              <a:buChar char="–"/>
            </a:pPr>
            <a:r>
              <a:rPr lang="en-US" sz="1550" dirty="0">
                <a:solidFill>
                  <a:srgbClr val="262626"/>
                </a:solidFill>
                <a:latin typeface="Garamond" pitchFamily="18" charset="0"/>
              </a:rPr>
              <a:t>Specimen-level averaging smooths out noisy single-image errors.</a:t>
            </a:r>
          </a:p>
          <a:p>
            <a:pPr>
              <a:spcBef>
                <a:spcPts val="700"/>
              </a:spcBef>
              <a:buNone/>
            </a:pPr>
            <a:r>
              <a:rPr lang="en-US" sz="1650" b="1" dirty="0">
                <a:solidFill>
                  <a:srgbClr val="A51C30"/>
                </a:solidFill>
                <a:latin typeface="Garamond" pitchFamily="18" charset="0"/>
              </a:rPr>
              <a:t>Main confusion patterns</a:t>
            </a:r>
          </a:p>
          <a:p>
            <a:pPr marL="228600" indent="-228600">
              <a:spcBef>
                <a:spcPts val="350"/>
              </a:spcBef>
              <a:buClr>
                <a:srgbClr val="A51C30"/>
              </a:buClr>
              <a:buFont typeface="Arial"/>
              <a:buChar char="–"/>
            </a:pPr>
            <a:r>
              <a:rPr lang="en-US" sz="1550" dirty="0" err="1">
                <a:solidFill>
                  <a:srgbClr val="262626"/>
                </a:solidFill>
                <a:latin typeface="Garamond" pitchFamily="18" charset="0"/>
              </a:rPr>
              <a:t>Litsea</a:t>
            </a:r>
            <a:r>
              <a:rPr lang="en-US" sz="1550" dirty="0">
                <a:solidFill>
                  <a:srgbClr val="262626"/>
                </a:solidFill>
                <a:latin typeface="Garamond" pitchFamily="18" charset="0"/>
              </a:rPr>
              <a:t>→ </a:t>
            </a:r>
            <a:r>
              <a:rPr lang="en-US" sz="1550" dirty="0" err="1">
                <a:solidFill>
                  <a:srgbClr val="262626"/>
                </a:solidFill>
                <a:latin typeface="Garamond" pitchFamily="18" charset="0"/>
              </a:rPr>
              <a:t>Machilus</a:t>
            </a:r>
            <a:endParaRPr lang="en-US" sz="1550" dirty="0">
              <a:solidFill>
                <a:srgbClr val="262626"/>
              </a:solidFill>
              <a:latin typeface="Garamond" pitchFamily="18" charset="0"/>
            </a:endParaRPr>
          </a:p>
          <a:p>
            <a:pPr marL="228600" indent="-228600">
              <a:spcBef>
                <a:spcPts val="350"/>
              </a:spcBef>
              <a:buClr>
                <a:srgbClr val="A51C30"/>
              </a:buClr>
              <a:buFont typeface="Arial"/>
              <a:buChar char="–"/>
            </a:pPr>
            <a:r>
              <a:rPr lang="en-US" sz="1550" dirty="0">
                <a:solidFill>
                  <a:srgbClr val="262626"/>
                </a:solidFill>
                <a:latin typeface="Garamond" pitchFamily="18" charset="0"/>
              </a:rPr>
              <a:t>Zelkova → Ulmus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buNone/>
            </a:pPr>
            <a:r>
              <a:rPr lang="en-US" sz="1200">
                <a:solidFill>
                  <a:srgbClr val="898989"/>
                </a:solidFill>
                <a:latin typeface="Garamond" pitchFamily="18" charset="0"/>
              </a:rPr>
              <a:t>@Martin Mayer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73807-B068-4863-956B-F1B336131749}" type="slidenum">
              <a:rPr lang="en-US"/>
              <a:t>12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6FD7903-78DF-E044-D01F-957C09087C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1875" y="1371600"/>
            <a:ext cx="4332730" cy="3810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4335"/>
    </mc:Choice>
    <mc:Fallback>
      <p:transition spd="slow" advTm="34335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>
                <a:latin typeface="Garamond" pitchFamily="18" charset="0"/>
              </a:rPr>
              <a:t>Feature interpretation</a:t>
            </a:r>
          </a:p>
        </p:txBody>
      </p:sp>
      <p:sp>
        <p:nvSpPr>
          <p:cNvPr id="177" name="Text 177"/>
          <p:cNvSpPr txBox="1"/>
          <p:nvPr/>
        </p:nvSpPr>
        <p:spPr>
          <a:xfrm>
            <a:off x="1600200" y="990600"/>
            <a:ext cx="6096000" cy="1500000"/>
          </a:xfrm>
          <a:prstGeom prst="rect">
            <a:avLst/>
          </a:prstGeom>
          <a:noFill/>
        </p:spPr>
        <p:txBody>
          <a:bodyPr wrap="square" lIns="0" rIns="0" rtlCol="0" anchor="t">
            <a:normAutofit/>
          </a:bodyPr>
          <a:lstStyle/>
          <a:p>
            <a:pPr algn="ctr">
              <a:spcBef>
                <a:spcPts val="500"/>
              </a:spcBef>
              <a:buClr>
                <a:srgbClr val="A51C30"/>
              </a:buClr>
            </a:pPr>
            <a:r>
              <a:rPr lang="en-US" sz="1550" dirty="0">
                <a:solidFill>
                  <a:srgbClr val="262626"/>
                </a:solidFill>
                <a:latin typeface="Garamond" pitchFamily="18" charset="0"/>
              </a:rPr>
              <a:t>Activations from the final convolutional layer were compared with genus-level anatomical traits.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buNone/>
            </a:pPr>
            <a:r>
              <a:rPr lang="en-US" sz="1200">
                <a:solidFill>
                  <a:srgbClr val="898989"/>
                </a:solidFill>
                <a:latin typeface="Garamond" pitchFamily="18" charset="0"/>
              </a:rPr>
              <a:t>@Martin Mayer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73807-B068-4863-956B-F1B336131749}" type="slidenum">
              <a:rPr lang="en-US"/>
              <a:t>13</a:t>
            </a:fld>
            <a:endParaRPr lang="en-US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361F011E-7265-80A9-E7E7-9EE76B5406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7000" y="1801142"/>
            <a:ext cx="3810000" cy="2210844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E604C2D2-3230-40AA-9CDD-D87A62F358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0" y="4114800"/>
            <a:ext cx="5638800" cy="232918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9450"/>
    </mc:Choice>
    <mc:Fallback>
      <p:transition spd="slow" advTm="59450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>
                <a:latin typeface="Garamond" pitchFamily="18" charset="0"/>
              </a:rPr>
              <a:t>Pros, cons, and lessons learned</a:t>
            </a:r>
          </a:p>
        </p:txBody>
      </p:sp>
      <p:sp>
        <p:nvSpPr>
          <p:cNvPr id="185" name="Shape 185"/>
          <p:cNvSpPr/>
          <p:nvPr/>
        </p:nvSpPr>
        <p:spPr>
          <a:xfrm>
            <a:off x="457200" y="1180000"/>
            <a:ext cx="3860000" cy="540000"/>
          </a:xfrm>
          <a:prstGeom prst="rect">
            <a:avLst/>
          </a:prstGeom>
          <a:solidFill>
            <a:srgbClr val="4F6228"/>
          </a:solidFill>
          <a:ln w="12700">
            <a:solidFill>
              <a:srgbClr val="4F6228"/>
            </a:solidFill>
          </a:ln>
        </p:spPr>
        <p:txBody>
          <a:bodyPr wrap="square" rtlCol="0" anchor="ctr">
            <a:normAutofit/>
          </a:bodyPr>
          <a:lstStyle/>
          <a:p>
            <a:pPr algn="ctr">
              <a:buNone/>
            </a:pPr>
            <a:r>
              <a:rPr lang="en-US" sz="1800" b="1">
                <a:solidFill>
                  <a:srgbClr val="FFFFFF"/>
                </a:solidFill>
                <a:latin typeface="Garamond" pitchFamily="18" charset="0"/>
              </a:rPr>
              <a:t>Pros</a:t>
            </a:r>
          </a:p>
        </p:txBody>
      </p:sp>
      <p:sp>
        <p:nvSpPr>
          <p:cNvPr id="186" name="Text 186"/>
          <p:cNvSpPr txBox="1"/>
          <p:nvPr/>
        </p:nvSpPr>
        <p:spPr>
          <a:xfrm>
            <a:off x="637200" y="1820000"/>
            <a:ext cx="3500000" cy="1900000"/>
          </a:xfrm>
          <a:prstGeom prst="rect">
            <a:avLst/>
          </a:prstGeom>
          <a:noFill/>
        </p:spPr>
        <p:txBody>
          <a:bodyPr wrap="square" lIns="0" rIns="0" rtlCol="0" anchor="t">
            <a:normAutofit/>
          </a:bodyPr>
          <a:lstStyle/>
          <a:p>
            <a:pPr marL="228600" indent="-228600">
              <a:spcBef>
                <a:spcPts val="400"/>
              </a:spcBef>
              <a:buClr>
                <a:srgbClr val="4F6228"/>
              </a:buClr>
              <a:buFont typeface="Arial"/>
              <a:buChar char="–"/>
            </a:pPr>
            <a:r>
              <a:rPr lang="en-US" sz="1450" dirty="0">
                <a:solidFill>
                  <a:srgbClr val="262626"/>
                </a:solidFill>
                <a:latin typeface="Garamond" pitchFamily="18" charset="0"/>
              </a:rPr>
              <a:t>Leakage-aware, specimen-level split</a:t>
            </a:r>
          </a:p>
          <a:p>
            <a:pPr marL="228600" indent="-228600">
              <a:spcBef>
                <a:spcPts val="400"/>
              </a:spcBef>
              <a:buClr>
                <a:srgbClr val="4F6228"/>
              </a:buClr>
              <a:buFont typeface="Arial"/>
              <a:buChar char="–"/>
            </a:pPr>
            <a:r>
              <a:rPr lang="en-US" sz="1450" dirty="0">
                <a:solidFill>
                  <a:srgbClr val="262626"/>
                </a:solidFill>
                <a:latin typeface="Garamond" pitchFamily="18" charset="0"/>
              </a:rPr>
              <a:t>Strong held-out specimen-level performance</a:t>
            </a:r>
          </a:p>
          <a:p>
            <a:pPr marL="228600" indent="-228600">
              <a:spcBef>
                <a:spcPts val="400"/>
              </a:spcBef>
              <a:buClr>
                <a:srgbClr val="4F6228"/>
              </a:buClr>
              <a:buFont typeface="Arial"/>
              <a:buChar char="–"/>
            </a:pPr>
            <a:r>
              <a:rPr lang="en-US" sz="1450" dirty="0">
                <a:solidFill>
                  <a:srgbClr val="262626"/>
                </a:solidFill>
                <a:latin typeface="Garamond" pitchFamily="18" charset="0"/>
              </a:rPr>
              <a:t>Practical transfer-learning workflow</a:t>
            </a:r>
          </a:p>
          <a:p>
            <a:pPr marL="228600" indent="-228600">
              <a:spcBef>
                <a:spcPts val="400"/>
              </a:spcBef>
              <a:buClr>
                <a:srgbClr val="4F6228"/>
              </a:buClr>
              <a:buFont typeface="Arial"/>
              <a:buChar char="–"/>
            </a:pPr>
            <a:r>
              <a:rPr lang="en-US" sz="1450" dirty="0">
                <a:solidFill>
                  <a:srgbClr val="262626"/>
                </a:solidFill>
                <a:latin typeface="Garamond" pitchFamily="18" charset="0"/>
              </a:rPr>
              <a:t>Includes an exploratory interpretability analysis</a:t>
            </a:r>
          </a:p>
        </p:txBody>
      </p:sp>
      <p:sp>
        <p:nvSpPr>
          <p:cNvPr id="187" name="Shape 187"/>
          <p:cNvSpPr/>
          <p:nvPr/>
        </p:nvSpPr>
        <p:spPr>
          <a:xfrm>
            <a:off x="4826800" y="1180000"/>
            <a:ext cx="3860000" cy="540000"/>
          </a:xfrm>
          <a:prstGeom prst="rect">
            <a:avLst/>
          </a:prstGeom>
          <a:solidFill>
            <a:srgbClr val="A51C30"/>
          </a:solidFill>
          <a:ln w="12700">
            <a:solidFill>
              <a:srgbClr val="A51C30"/>
            </a:solidFill>
          </a:ln>
        </p:spPr>
        <p:txBody>
          <a:bodyPr wrap="square" rtlCol="0" anchor="ctr">
            <a:normAutofit/>
          </a:bodyPr>
          <a:lstStyle/>
          <a:p>
            <a:pPr algn="ctr">
              <a:buNone/>
            </a:pPr>
            <a:r>
              <a:rPr lang="en-US" sz="1800" b="1">
                <a:solidFill>
                  <a:srgbClr val="FFFFFF"/>
                </a:solidFill>
                <a:latin typeface="Garamond" pitchFamily="18" charset="0"/>
              </a:rPr>
              <a:t>Cons / limitations</a:t>
            </a:r>
          </a:p>
        </p:txBody>
      </p:sp>
      <p:sp>
        <p:nvSpPr>
          <p:cNvPr id="188" name="Text 188"/>
          <p:cNvSpPr txBox="1"/>
          <p:nvPr/>
        </p:nvSpPr>
        <p:spPr>
          <a:xfrm>
            <a:off x="5006800" y="1820000"/>
            <a:ext cx="3500000" cy="1900000"/>
          </a:xfrm>
          <a:prstGeom prst="rect">
            <a:avLst/>
          </a:prstGeom>
          <a:noFill/>
        </p:spPr>
        <p:txBody>
          <a:bodyPr wrap="square" lIns="0" rIns="0" rtlCol="0" anchor="t">
            <a:normAutofit/>
          </a:bodyPr>
          <a:lstStyle/>
          <a:p>
            <a:pPr marL="228600" indent="-228600">
              <a:spcBef>
                <a:spcPts val="400"/>
              </a:spcBef>
              <a:buClr>
                <a:srgbClr val="A51C30"/>
              </a:buClr>
              <a:buFont typeface="Arial"/>
              <a:buChar char="–"/>
            </a:pPr>
            <a:r>
              <a:rPr lang="en-US" sz="1450" dirty="0">
                <a:solidFill>
                  <a:srgbClr val="262626"/>
                </a:solidFill>
                <a:latin typeface="Garamond" pitchFamily="18" charset="0"/>
              </a:rPr>
              <a:t>Small number of genera for interpretation</a:t>
            </a:r>
          </a:p>
          <a:p>
            <a:pPr marL="228600" indent="-228600">
              <a:spcBef>
                <a:spcPts val="400"/>
              </a:spcBef>
              <a:buClr>
                <a:srgbClr val="A51C30"/>
              </a:buClr>
              <a:buFont typeface="Arial"/>
              <a:buChar char="–"/>
            </a:pPr>
            <a:r>
              <a:rPr lang="en-US" sz="1450" dirty="0">
                <a:solidFill>
                  <a:srgbClr val="262626"/>
                </a:solidFill>
                <a:latin typeface="Garamond" pitchFamily="18" charset="0"/>
              </a:rPr>
              <a:t>Genus-level anatomy labels are weak labels</a:t>
            </a:r>
          </a:p>
          <a:p>
            <a:pPr marL="228600" indent="-228600">
              <a:spcBef>
                <a:spcPts val="400"/>
              </a:spcBef>
              <a:buClr>
                <a:srgbClr val="A51C30"/>
              </a:buClr>
              <a:buFont typeface="Arial"/>
              <a:buChar char="–"/>
            </a:pPr>
            <a:r>
              <a:rPr lang="en-US" sz="1450" dirty="0">
                <a:solidFill>
                  <a:srgbClr val="262626"/>
                </a:solidFill>
                <a:latin typeface="Garamond" pitchFamily="18" charset="0"/>
              </a:rPr>
              <a:t>No exhaustive architecture search</a:t>
            </a:r>
          </a:p>
        </p:txBody>
      </p:sp>
      <p:sp>
        <p:nvSpPr>
          <p:cNvPr id="189" name="Shape 189"/>
          <p:cNvSpPr/>
          <p:nvPr/>
        </p:nvSpPr>
        <p:spPr>
          <a:xfrm>
            <a:off x="457200" y="3760000"/>
            <a:ext cx="8229600" cy="6200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B7B7B7"/>
            </a:solidFill>
          </a:ln>
        </p:spPr>
        <p:txBody>
          <a:bodyPr wrap="square" rtlCol="0" anchor="ctr">
            <a:normAutofit/>
          </a:bodyPr>
          <a:lstStyle/>
          <a:p>
            <a:pPr algn="ctr">
              <a:buNone/>
            </a:pPr>
            <a:r>
              <a:rPr lang="en-US" sz="1450" b="1">
                <a:solidFill>
                  <a:srgbClr val="1F497D"/>
                </a:solidFill>
                <a:latin typeface="Garamond" pitchFamily="18" charset="0"/>
              </a:rPr>
              <a:t>Lessons learned:  </a:t>
            </a:r>
            <a:r>
              <a:rPr lang="en-US" sz="1450" i="1">
                <a:solidFill>
                  <a:srgbClr val="262626"/>
                </a:solidFill>
                <a:latin typeface="Garamond" pitchFamily="18" charset="0"/>
              </a:rPr>
              <a:t>preventing data leakage and evaluating at the specimen level mattered more than chasing architectural complexity.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buNone/>
            </a:pPr>
            <a:r>
              <a:rPr lang="en-US" sz="1200">
                <a:solidFill>
                  <a:srgbClr val="898989"/>
                </a:solidFill>
                <a:latin typeface="Garamond" pitchFamily="18" charset="0"/>
              </a:rPr>
              <a:t>@Martin Mayer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73807-B068-4863-956B-F1B336131749}" type="slidenum">
              <a:rPr lang="en-US"/>
              <a:t>14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1513"/>
    </mc:Choice>
    <mc:Fallback>
      <p:transition spd="slow" advTm="41513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B37F3F-1EB3-64FA-97F2-C288B4E7BA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05731E-47FA-7763-FF3D-1DC5DA469E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Garamond" pitchFamily="18" charset="0"/>
              </a:rPr>
              <a:t>Links</a:t>
            </a:r>
          </a:p>
        </p:txBody>
      </p:sp>
      <p:sp>
        <p:nvSpPr>
          <p:cNvPr id="190" name="Text 190">
            <a:extLst>
              <a:ext uri="{FF2B5EF4-FFF2-40B4-BE49-F238E27FC236}">
                <a16:creationId xmlns:a16="http://schemas.microsoft.com/office/drawing/2014/main" id="{CECF1B37-04F7-F198-283B-2E1A8D51198B}"/>
              </a:ext>
            </a:extLst>
          </p:cNvPr>
          <p:cNvSpPr txBox="1"/>
          <p:nvPr/>
        </p:nvSpPr>
        <p:spPr>
          <a:xfrm>
            <a:off x="457200" y="1143000"/>
            <a:ext cx="8229600" cy="1300000"/>
          </a:xfrm>
          <a:prstGeom prst="rect">
            <a:avLst/>
          </a:prstGeom>
          <a:noFill/>
        </p:spPr>
        <p:txBody>
          <a:bodyPr wrap="square" lIns="0" rIns="0" rtlCol="0" anchor="t">
            <a:norm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en-US" sz="1300" b="1" dirty="0">
                <a:solidFill>
                  <a:srgbClr val="1F497D"/>
                </a:solidFill>
                <a:latin typeface="Garamond" pitchFamily="18" charset="0"/>
              </a:rPr>
              <a:t>GitHub repository:  </a:t>
            </a:r>
            <a:r>
              <a:rPr lang="en-US" sz="1300" i="1" dirty="0">
                <a:solidFill>
                  <a:srgbClr val="808080"/>
                </a:solidFill>
                <a:latin typeface="Garamond" pitchFamily="18" charset="0"/>
              </a:rPr>
              <a:t>https://github.com/mayerkrebs/Harvard-CSCI-89-Deep-Learning</a:t>
            </a:r>
          </a:p>
          <a:p>
            <a:pPr algn="ctr">
              <a:spcBef>
                <a:spcPts val="350"/>
              </a:spcBef>
              <a:buNone/>
            </a:pPr>
            <a:r>
              <a:rPr lang="en-US" sz="1300" b="1" dirty="0">
                <a:solidFill>
                  <a:srgbClr val="1F497D"/>
                </a:solidFill>
                <a:latin typeface="Garamond" pitchFamily="18" charset="0"/>
              </a:rPr>
              <a:t>Dataset:  </a:t>
            </a:r>
            <a:r>
              <a:rPr lang="en-US" sz="1200" dirty="0">
                <a:solidFill>
                  <a:srgbClr val="262626"/>
                </a:solidFill>
                <a:latin typeface="Garamond" pitchFamily="18" charset="0"/>
              </a:rPr>
              <a:t>https://drive.google.com/file/d/1QmX8vWyJzU3U1tOJvRGy-d3xL3XbvAZf/view?usp=sharing</a:t>
            </a:r>
          </a:p>
          <a:p>
            <a:pPr algn="ctr">
              <a:spcBef>
                <a:spcPts val="350"/>
              </a:spcBef>
              <a:buNone/>
            </a:pPr>
            <a:r>
              <a:rPr lang="en-US" sz="1300" b="1" dirty="0">
                <a:solidFill>
                  <a:srgbClr val="1F497D"/>
                </a:solidFill>
                <a:latin typeface="Garamond" pitchFamily="18" charset="0"/>
              </a:rPr>
              <a:t>Video presentation:  </a:t>
            </a:r>
            <a:r>
              <a:rPr lang="en-US" sz="1300" i="1" dirty="0">
                <a:solidFill>
                  <a:srgbClr val="808080"/>
                </a:solidFill>
                <a:latin typeface="Garamond" pitchFamily="18" charset="0"/>
              </a:rPr>
              <a:t>https://vimeo.com/1215653077</a:t>
            </a:r>
          </a:p>
        </p:txBody>
      </p:sp>
      <p:sp>
        <p:nvSpPr>
          <p:cNvPr id="3" name="Footer Placeholder">
            <a:extLst>
              <a:ext uri="{FF2B5EF4-FFF2-40B4-BE49-F238E27FC236}">
                <a16:creationId xmlns:a16="http://schemas.microsoft.com/office/drawing/2014/main" id="{D6F51C39-C217-6E2C-68DD-1ECABB6356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buNone/>
            </a:pPr>
            <a:r>
              <a:rPr lang="en-US" sz="1200">
                <a:solidFill>
                  <a:srgbClr val="898989"/>
                </a:solidFill>
                <a:latin typeface="Garamond" pitchFamily="18" charset="0"/>
              </a:rPr>
              <a:t>@Martin Mayer</a:t>
            </a:r>
          </a:p>
        </p:txBody>
      </p:sp>
      <p:sp>
        <p:nvSpPr>
          <p:cNvPr id="4" name="Slide Number Placeholder">
            <a:extLst>
              <a:ext uri="{FF2B5EF4-FFF2-40B4-BE49-F238E27FC236}">
                <a16:creationId xmlns:a16="http://schemas.microsoft.com/office/drawing/2014/main" id="{E7C69E1D-C2AD-F6BD-6F67-42C1427F7C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73807-B068-4863-956B-F1B336131749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587364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1928"/>
    </mc:Choice>
    <mc:Fallback>
      <p:transition spd="slow" advTm="11928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12118</TotalTime>
  <Words>881</Words>
  <Application>Microsoft Office PowerPoint</Application>
  <PresentationFormat>On-screen Show (4:3)</PresentationFormat>
  <Paragraphs>203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Garamond</vt:lpstr>
      <vt:lpstr>Wingdings</vt:lpstr>
      <vt:lpstr>Office Theme</vt:lpstr>
      <vt:lpstr>Final Project Wood Genus Classification from Microscopic Images Using CNNs and Transfer Learning</vt:lpstr>
      <vt:lpstr>Project goal</vt:lpstr>
      <vt:lpstr>Why genus classification?</vt:lpstr>
      <vt:lpstr>Dataset</vt:lpstr>
      <vt:lpstr>What the images look like</vt:lpstr>
      <vt:lpstr>Leakage-aware split</vt:lpstr>
      <vt:lpstr>Data preparation pipeline</vt:lpstr>
      <vt:lpstr>Model architecture</vt:lpstr>
      <vt:lpstr>Training strategy</vt:lpstr>
      <vt:lpstr>Evaluation design</vt:lpstr>
      <vt:lpstr>Main results</vt:lpstr>
      <vt:lpstr>Error analysis</vt:lpstr>
      <vt:lpstr>Feature interpretation</vt:lpstr>
      <vt:lpstr>Pros, cons, and lessons learned</vt:lpstr>
      <vt:lpstr>Links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zdjordje</dc:creator>
  <cp:lastModifiedBy>Martin Mayer</cp:lastModifiedBy>
  <cp:revision>899</cp:revision>
  <cp:lastPrinted>2012-11-30T20:59:45Z</cp:lastPrinted>
  <dcterms:created xsi:type="dcterms:W3CDTF">2006-08-16T00:00:00Z</dcterms:created>
  <dcterms:modified xsi:type="dcterms:W3CDTF">2026-08-05T00:44:07Z</dcterms:modified>
</cp:coreProperties>
</file>